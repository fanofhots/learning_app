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Cabin" panose="020B0604020202020204" charset="0"/>
      <p:regular r:id="rId28"/>
    </p:embeddedFont>
    <p:embeddedFont>
      <p:font typeface="Cabin Bold" panose="020B0604020202020204" charset="0"/>
      <p:regular r:id="rId29"/>
    </p:embeddedFont>
    <p:embeddedFont>
      <p:font typeface="Muli" panose="020B0604020202020204" charset="0"/>
      <p:regular r:id="rId30"/>
    </p:embeddedFont>
    <p:embeddedFont>
      <p:font typeface="Muli Bold" panose="020B0604020202020204" charset="0"/>
      <p:regular r:id="rId31"/>
    </p:embeddedFont>
    <p:embeddedFont>
      <p:font typeface="Muli Regular Bold"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blue and red building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grpSp>
        <p:nvGrpSpPr>
          <p:cNvPr id="4" name="Group 4"/>
          <p:cNvGrpSpPr/>
          <p:nvPr/>
        </p:nvGrpSpPr>
        <p:grpSpPr>
          <a:xfrm>
            <a:off x="1804308" y="1546199"/>
            <a:ext cx="14679384" cy="2066352"/>
            <a:chOff x="0" y="0"/>
            <a:chExt cx="19572512" cy="2755136"/>
          </a:xfrm>
        </p:grpSpPr>
        <p:sp>
          <p:nvSpPr>
            <p:cNvPr id="5" name="Freeform 5"/>
            <p:cNvSpPr/>
            <p:nvPr/>
          </p:nvSpPr>
          <p:spPr>
            <a:xfrm>
              <a:off x="0" y="0"/>
              <a:ext cx="19572512" cy="2755136"/>
            </a:xfrm>
            <a:custGeom>
              <a:avLst/>
              <a:gdLst/>
              <a:ahLst/>
              <a:cxnLst/>
              <a:rect l="l" t="t" r="r" b="b"/>
              <a:pathLst>
                <a:path w="19572512" h="2755136">
                  <a:moveTo>
                    <a:pt x="0" y="0"/>
                  </a:moveTo>
                  <a:lnTo>
                    <a:pt x="19572512" y="0"/>
                  </a:lnTo>
                  <a:lnTo>
                    <a:pt x="19572512" y="2755136"/>
                  </a:lnTo>
                  <a:lnTo>
                    <a:pt x="0" y="2755136"/>
                  </a:lnTo>
                  <a:close/>
                </a:path>
              </a:pathLst>
            </a:custGeom>
            <a:solidFill>
              <a:srgbClr val="000000">
                <a:alpha val="0"/>
              </a:srgbClr>
            </a:solidFill>
          </p:spPr>
          <p:txBody>
            <a:bodyPr/>
            <a:lstStyle/>
            <a:p>
              <a:endParaRPr lang="vi-VN"/>
            </a:p>
          </p:txBody>
        </p:sp>
        <p:sp>
          <p:nvSpPr>
            <p:cNvPr id="6" name="TextBox 6"/>
            <p:cNvSpPr txBox="1"/>
            <p:nvPr/>
          </p:nvSpPr>
          <p:spPr>
            <a:xfrm>
              <a:off x="0" y="76200"/>
              <a:ext cx="19572512" cy="2678936"/>
            </a:xfrm>
            <a:prstGeom prst="rect">
              <a:avLst/>
            </a:prstGeom>
          </p:spPr>
          <p:txBody>
            <a:bodyPr lIns="0" tIns="0" rIns="0" bIns="0" rtlCol="0" anchor="b"/>
            <a:lstStyle/>
            <a:p>
              <a:pPr algn="ctr">
                <a:lnSpc>
                  <a:spcPts val="7614"/>
                </a:lnSpc>
              </a:pPr>
              <a:r>
                <a:rPr lang="en-US" sz="7050" b="1">
                  <a:solidFill>
                    <a:srgbClr val="FFC000"/>
                  </a:solidFill>
                  <a:latin typeface="Cabin Bold"/>
                  <a:ea typeface="Cabin Bold"/>
                  <a:cs typeface="Cabin Bold"/>
                  <a:sym typeface="Cabin Bold"/>
                </a:rPr>
                <a:t>ĐIỆN TOÁN ĐÁM MÂY</a:t>
              </a:r>
            </a:p>
          </p:txBody>
        </p:sp>
      </p:grpSp>
      <p:sp>
        <p:nvSpPr>
          <p:cNvPr id="7" name="AutoShape 7"/>
          <p:cNvSpPr/>
          <p:nvPr/>
        </p:nvSpPr>
        <p:spPr>
          <a:xfrm flipV="1">
            <a:off x="6821260" y="3612551"/>
            <a:ext cx="4574135" cy="14286"/>
          </a:xfrm>
          <a:prstGeom prst="line">
            <a:avLst/>
          </a:prstGeom>
          <a:ln w="28575" cap="rnd">
            <a:solidFill>
              <a:srgbClr val="FFFFFF"/>
            </a:solidFill>
            <a:prstDash val="solid"/>
            <a:headEnd type="none" w="sm" len="sm"/>
            <a:tailEnd type="none" w="sm" len="sm"/>
          </a:ln>
        </p:spPr>
        <p:txBody>
          <a:bodyPr/>
          <a:lstStyle/>
          <a:p>
            <a:endParaRPr lang="vi-VN"/>
          </a:p>
        </p:txBody>
      </p:sp>
      <p:sp>
        <p:nvSpPr>
          <p:cNvPr id="8" name="TextBox 8"/>
          <p:cNvSpPr txBox="1"/>
          <p:nvPr/>
        </p:nvSpPr>
        <p:spPr>
          <a:xfrm>
            <a:off x="1028700" y="8111111"/>
            <a:ext cx="6078451" cy="611961"/>
          </a:xfrm>
          <a:prstGeom prst="rect">
            <a:avLst/>
          </a:prstGeom>
        </p:spPr>
        <p:txBody>
          <a:bodyPr lIns="0" tIns="0" rIns="0" bIns="0" rtlCol="0" anchor="t">
            <a:spAutoFit/>
          </a:bodyPr>
          <a:lstStyle/>
          <a:p>
            <a:pPr algn="ctr">
              <a:lnSpc>
                <a:spcPts val="4789"/>
              </a:lnSpc>
              <a:spcBef>
                <a:spcPct val="0"/>
              </a:spcBef>
            </a:pPr>
            <a:r>
              <a:rPr lang="en-US" sz="4435">
                <a:solidFill>
                  <a:srgbClr val="FFFFFF"/>
                </a:solidFill>
                <a:latin typeface="Cabin"/>
                <a:ea typeface="Cabin"/>
                <a:cs typeface="Cabin"/>
                <a:sym typeface="Cabin"/>
              </a:rPr>
              <a:t>GVHD: Trần Anh Tuấn</a:t>
            </a:r>
          </a:p>
        </p:txBody>
      </p:sp>
      <p:sp>
        <p:nvSpPr>
          <p:cNvPr id="9" name="TextBox 9"/>
          <p:cNvSpPr txBox="1"/>
          <p:nvPr/>
        </p:nvSpPr>
        <p:spPr>
          <a:xfrm>
            <a:off x="5476145" y="6321693"/>
            <a:ext cx="7335711" cy="876887"/>
          </a:xfrm>
          <a:prstGeom prst="rect">
            <a:avLst/>
          </a:prstGeom>
        </p:spPr>
        <p:txBody>
          <a:bodyPr lIns="0" tIns="0" rIns="0" bIns="0" rtlCol="0" anchor="t">
            <a:spAutoFit/>
          </a:bodyPr>
          <a:lstStyle/>
          <a:p>
            <a:pPr algn="ctr">
              <a:lnSpc>
                <a:spcPts val="6791"/>
              </a:lnSpc>
              <a:spcBef>
                <a:spcPct val="0"/>
              </a:spcBef>
            </a:pPr>
            <a:r>
              <a:rPr lang="en-US" sz="6288" b="1">
                <a:solidFill>
                  <a:srgbClr val="FFC000"/>
                </a:solidFill>
                <a:latin typeface="Cabin Bold"/>
                <a:ea typeface="Cabin Bold"/>
                <a:cs typeface="Cabin Bold"/>
                <a:sym typeface="Cabin Bold"/>
              </a:rPr>
              <a:t>NHÓM 3</a:t>
            </a:r>
          </a:p>
        </p:txBody>
      </p:sp>
      <p:sp>
        <p:nvSpPr>
          <p:cNvPr id="10" name="TextBox 10"/>
          <p:cNvSpPr txBox="1"/>
          <p:nvPr/>
        </p:nvSpPr>
        <p:spPr>
          <a:xfrm>
            <a:off x="1361857" y="4044165"/>
            <a:ext cx="15564285" cy="1750663"/>
          </a:xfrm>
          <a:prstGeom prst="rect">
            <a:avLst/>
          </a:prstGeom>
        </p:spPr>
        <p:txBody>
          <a:bodyPr lIns="0" tIns="0" rIns="0" bIns="0" rtlCol="0" anchor="t">
            <a:spAutoFit/>
          </a:bodyPr>
          <a:lstStyle/>
          <a:p>
            <a:pPr algn="ctr">
              <a:lnSpc>
                <a:spcPts val="7023"/>
              </a:lnSpc>
              <a:spcBef>
                <a:spcPct val="0"/>
              </a:spcBef>
            </a:pPr>
            <a:r>
              <a:rPr lang="en-US" sz="5402" b="1">
                <a:solidFill>
                  <a:srgbClr val="FFFFFF"/>
                </a:solidFill>
                <a:latin typeface="Cabin Bold"/>
                <a:ea typeface="Cabin Bold"/>
                <a:cs typeface="Cabin Bold"/>
                <a:sym typeface="Cabin Bold"/>
              </a:rPr>
              <a:t>XÂY DỰNG VÀ TRIỂN KHAI WEB “FRUIT SHOP” BẰNG DOCKER</a:t>
            </a:r>
          </a:p>
        </p:txBody>
      </p:sp>
      <p:sp>
        <p:nvSpPr>
          <p:cNvPr id="11" name="AutoShape 11"/>
          <p:cNvSpPr/>
          <p:nvPr/>
        </p:nvSpPr>
        <p:spPr>
          <a:xfrm flipV="1">
            <a:off x="6821216" y="6013017"/>
            <a:ext cx="4574135" cy="14286"/>
          </a:xfrm>
          <a:prstGeom prst="line">
            <a:avLst/>
          </a:prstGeom>
          <a:ln w="28575" cap="rnd">
            <a:solidFill>
              <a:srgbClr val="FFFFFF"/>
            </a:solidFill>
            <a:prstDash val="solid"/>
            <a:headEnd type="none" w="sm" len="sm"/>
            <a:tailEnd type="none" w="sm" len="sm"/>
          </a:ln>
        </p:spPr>
        <p:txBody>
          <a:bodyPr/>
          <a:lstStyle/>
          <a:p>
            <a:endParaRPr lang="vi-V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grpSp>
        <p:nvGrpSpPr>
          <p:cNvPr id="4" name="Group 4"/>
          <p:cNvGrpSpPr/>
          <p:nvPr/>
        </p:nvGrpSpPr>
        <p:grpSpPr>
          <a:xfrm>
            <a:off x="4009181" y="1800177"/>
            <a:ext cx="10269639" cy="1106533"/>
            <a:chOff x="0" y="0"/>
            <a:chExt cx="13692852" cy="1475378"/>
          </a:xfrm>
        </p:grpSpPr>
        <p:grpSp>
          <p:nvGrpSpPr>
            <p:cNvPr id="5" name="Group 5"/>
            <p:cNvGrpSpPr/>
            <p:nvPr/>
          </p:nvGrpSpPr>
          <p:grpSpPr>
            <a:xfrm>
              <a:off x="0" y="0"/>
              <a:ext cx="13692852" cy="1475378"/>
              <a:chOff x="0" y="0"/>
              <a:chExt cx="2704761" cy="291433"/>
            </a:xfrm>
          </p:grpSpPr>
          <p:sp>
            <p:nvSpPr>
              <p:cNvPr id="6" name="Freeform 6"/>
              <p:cNvSpPr/>
              <p:nvPr/>
            </p:nvSpPr>
            <p:spPr>
              <a:xfrm>
                <a:off x="0" y="0"/>
                <a:ext cx="2704761" cy="291433"/>
              </a:xfrm>
              <a:custGeom>
                <a:avLst/>
                <a:gdLst/>
                <a:ahLst/>
                <a:cxnLst/>
                <a:rect l="l" t="t" r="r" b="b"/>
                <a:pathLst>
                  <a:path w="2704761" h="291433">
                    <a:moveTo>
                      <a:pt x="75386" y="0"/>
                    </a:moveTo>
                    <a:lnTo>
                      <a:pt x="2629374" y="0"/>
                    </a:lnTo>
                    <a:cubicBezTo>
                      <a:pt x="2649368" y="0"/>
                      <a:pt x="2668543" y="7942"/>
                      <a:pt x="2682681" y="22080"/>
                    </a:cubicBezTo>
                    <a:cubicBezTo>
                      <a:pt x="2696818" y="36218"/>
                      <a:pt x="2704761" y="55393"/>
                      <a:pt x="2704761" y="75386"/>
                    </a:cubicBezTo>
                    <a:lnTo>
                      <a:pt x="2704761" y="216046"/>
                    </a:lnTo>
                    <a:cubicBezTo>
                      <a:pt x="2704761" y="236040"/>
                      <a:pt x="2696818" y="255215"/>
                      <a:pt x="2682681" y="269352"/>
                    </a:cubicBezTo>
                    <a:cubicBezTo>
                      <a:pt x="2668543" y="283490"/>
                      <a:pt x="2649368" y="291433"/>
                      <a:pt x="2629374" y="291433"/>
                    </a:cubicBezTo>
                    <a:lnTo>
                      <a:pt x="75386" y="291433"/>
                    </a:lnTo>
                    <a:cubicBezTo>
                      <a:pt x="55393" y="291433"/>
                      <a:pt x="36218" y="283490"/>
                      <a:pt x="22080" y="269352"/>
                    </a:cubicBezTo>
                    <a:cubicBezTo>
                      <a:pt x="7942" y="255215"/>
                      <a:pt x="0" y="236040"/>
                      <a:pt x="0" y="216046"/>
                    </a:cubicBezTo>
                    <a:lnTo>
                      <a:pt x="0" y="75386"/>
                    </a:lnTo>
                    <a:cubicBezTo>
                      <a:pt x="0" y="55393"/>
                      <a:pt x="7942" y="36218"/>
                      <a:pt x="22080" y="22080"/>
                    </a:cubicBezTo>
                    <a:cubicBezTo>
                      <a:pt x="36218" y="7942"/>
                      <a:pt x="55393" y="0"/>
                      <a:pt x="75386" y="0"/>
                    </a:cubicBezTo>
                    <a:close/>
                  </a:path>
                </a:pathLst>
              </a:custGeom>
              <a:solidFill>
                <a:srgbClr val="2B485F"/>
              </a:solidFill>
            </p:spPr>
            <p:txBody>
              <a:bodyPr/>
              <a:lstStyle/>
              <a:p>
                <a:endParaRPr lang="vi-VN"/>
              </a:p>
            </p:txBody>
          </p:sp>
          <p:sp>
            <p:nvSpPr>
              <p:cNvPr id="7" name="TextBox 7"/>
              <p:cNvSpPr txBox="1"/>
              <p:nvPr/>
            </p:nvSpPr>
            <p:spPr>
              <a:xfrm>
                <a:off x="0" y="-38100"/>
                <a:ext cx="2704761" cy="329533"/>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406433" y="308216"/>
              <a:ext cx="8879986" cy="963720"/>
            </a:xfrm>
            <a:prstGeom prst="rect">
              <a:avLst/>
            </a:prstGeom>
          </p:spPr>
          <p:txBody>
            <a:bodyPr lIns="0" tIns="0" rIns="0" bIns="0" rtlCol="0" anchor="t">
              <a:spAutoFit/>
            </a:bodyPr>
            <a:lstStyle/>
            <a:p>
              <a:pPr algn="ctr">
                <a:lnSpc>
                  <a:spcPts val="5300"/>
                </a:lnSpc>
              </a:pPr>
              <a:r>
                <a:rPr lang="en-US" sz="5300" b="1">
                  <a:solidFill>
                    <a:srgbClr val="FFFFFF"/>
                  </a:solidFill>
                  <a:latin typeface="Muli Regular Bold"/>
                  <a:ea typeface="Muli Regular Bold"/>
                  <a:cs typeface="Muli Regular Bold"/>
                  <a:sym typeface="Muli Regular Bold"/>
                </a:rPr>
                <a:t>THÀNH VIÊN NHÓM</a:t>
              </a:r>
            </a:p>
          </p:txBody>
        </p:sp>
      </p:grpSp>
      <p:grpSp>
        <p:nvGrpSpPr>
          <p:cNvPr id="9" name="Group 9"/>
          <p:cNvGrpSpPr/>
          <p:nvPr/>
        </p:nvGrpSpPr>
        <p:grpSpPr>
          <a:xfrm>
            <a:off x="2778468" y="3616205"/>
            <a:ext cx="12731064" cy="3940899"/>
            <a:chOff x="0" y="0"/>
            <a:chExt cx="16974751" cy="5254532"/>
          </a:xfrm>
        </p:grpSpPr>
        <p:grpSp>
          <p:nvGrpSpPr>
            <p:cNvPr id="10" name="Group 10"/>
            <p:cNvGrpSpPr/>
            <p:nvPr/>
          </p:nvGrpSpPr>
          <p:grpSpPr>
            <a:xfrm>
              <a:off x="0" y="0"/>
              <a:ext cx="16974751" cy="1219577"/>
              <a:chOff x="0" y="0"/>
              <a:chExt cx="4373318" cy="314208"/>
            </a:xfrm>
          </p:grpSpPr>
          <p:sp>
            <p:nvSpPr>
              <p:cNvPr id="11" name="Freeform 11"/>
              <p:cNvSpPr/>
              <p:nvPr/>
            </p:nvSpPr>
            <p:spPr>
              <a:xfrm>
                <a:off x="0" y="0"/>
                <a:ext cx="4373318" cy="314208"/>
              </a:xfrm>
              <a:custGeom>
                <a:avLst/>
                <a:gdLst/>
                <a:ahLst/>
                <a:cxnLst/>
                <a:rect l="l" t="t" r="r" b="b"/>
                <a:pathLst>
                  <a:path w="4373318" h="314208">
                    <a:moveTo>
                      <a:pt x="18243" y="0"/>
                    </a:moveTo>
                    <a:lnTo>
                      <a:pt x="4355075" y="0"/>
                    </a:lnTo>
                    <a:cubicBezTo>
                      <a:pt x="4359913" y="0"/>
                      <a:pt x="4364554" y="1922"/>
                      <a:pt x="4367975" y="5343"/>
                    </a:cubicBezTo>
                    <a:cubicBezTo>
                      <a:pt x="4371396" y="8765"/>
                      <a:pt x="4373318" y="13405"/>
                      <a:pt x="4373318" y="18243"/>
                    </a:cubicBezTo>
                    <a:lnTo>
                      <a:pt x="4373318" y="295964"/>
                    </a:lnTo>
                    <a:cubicBezTo>
                      <a:pt x="4373318" y="306040"/>
                      <a:pt x="4365151" y="314208"/>
                      <a:pt x="4355075" y="314208"/>
                    </a:cubicBezTo>
                    <a:lnTo>
                      <a:pt x="18243" y="314208"/>
                    </a:lnTo>
                    <a:cubicBezTo>
                      <a:pt x="13405" y="314208"/>
                      <a:pt x="8765" y="312286"/>
                      <a:pt x="5343" y="308864"/>
                    </a:cubicBezTo>
                    <a:cubicBezTo>
                      <a:pt x="1922" y="305443"/>
                      <a:pt x="0" y="300803"/>
                      <a:pt x="0" y="295964"/>
                    </a:cubicBezTo>
                    <a:lnTo>
                      <a:pt x="0" y="18243"/>
                    </a:lnTo>
                    <a:cubicBezTo>
                      <a:pt x="0" y="13405"/>
                      <a:pt x="1922" y="8765"/>
                      <a:pt x="5343" y="5343"/>
                    </a:cubicBezTo>
                    <a:cubicBezTo>
                      <a:pt x="8765" y="1922"/>
                      <a:pt x="13405" y="0"/>
                      <a:pt x="18243" y="0"/>
                    </a:cubicBezTo>
                    <a:close/>
                  </a:path>
                </a:pathLst>
              </a:custGeom>
              <a:solidFill>
                <a:srgbClr val="DAEAFF"/>
              </a:solidFill>
              <a:ln w="19050" cap="rnd">
                <a:solidFill>
                  <a:srgbClr val="F5EBFF"/>
                </a:solidFill>
                <a:prstDash val="solid"/>
                <a:round/>
              </a:ln>
            </p:spPr>
            <p:txBody>
              <a:bodyPr/>
              <a:lstStyle/>
              <a:p>
                <a:endParaRPr lang="vi-VN"/>
              </a:p>
            </p:txBody>
          </p:sp>
          <p:sp>
            <p:nvSpPr>
              <p:cNvPr id="12" name="TextBox 12"/>
              <p:cNvSpPr txBox="1"/>
              <p:nvPr/>
            </p:nvSpPr>
            <p:spPr>
              <a:xfrm>
                <a:off x="0" y="-19050"/>
                <a:ext cx="4373318" cy="333258"/>
              </a:xfrm>
              <a:prstGeom prst="rect">
                <a:avLst/>
              </a:prstGeom>
            </p:spPr>
            <p:txBody>
              <a:bodyPr lIns="38949" tIns="38949" rIns="38949" bIns="38949" rtlCol="0" anchor="ctr"/>
              <a:lstStyle/>
              <a:p>
                <a:pPr marL="0" lvl="0" indent="0" algn="ctr">
                  <a:lnSpc>
                    <a:spcPts val="2610"/>
                  </a:lnSpc>
                  <a:spcBef>
                    <a:spcPct val="0"/>
                  </a:spcBef>
                </a:pPr>
                <a:endParaRPr/>
              </a:p>
            </p:txBody>
          </p:sp>
        </p:grpSp>
        <p:sp>
          <p:nvSpPr>
            <p:cNvPr id="13" name="TextBox 13"/>
            <p:cNvSpPr txBox="1"/>
            <p:nvPr/>
          </p:nvSpPr>
          <p:spPr>
            <a:xfrm>
              <a:off x="512961" y="161582"/>
              <a:ext cx="15671070" cy="858312"/>
            </a:xfrm>
            <a:prstGeom prst="rect">
              <a:avLst/>
            </a:prstGeom>
          </p:spPr>
          <p:txBody>
            <a:bodyPr lIns="0" tIns="0" rIns="0" bIns="0" rtlCol="0" anchor="t">
              <a:spAutoFit/>
            </a:bodyPr>
            <a:lstStyle/>
            <a:p>
              <a:pPr marL="0" lvl="0" indent="0" algn="l">
                <a:lnSpc>
                  <a:spcPts val="5280"/>
                </a:lnSpc>
                <a:spcBef>
                  <a:spcPct val="0"/>
                </a:spcBef>
              </a:pPr>
              <a:r>
                <a:rPr lang="en-US" sz="4062" b="1">
                  <a:solidFill>
                    <a:srgbClr val="000000"/>
                  </a:solidFill>
                  <a:latin typeface="Muli Regular Bold"/>
                  <a:ea typeface="Muli Regular Bold"/>
                  <a:cs typeface="Muli Regular Bold"/>
                  <a:sym typeface="Muli Regular Bold"/>
                </a:rPr>
                <a:t>VÕ THIÊN SƠN                              48.01.104.136</a:t>
              </a:r>
            </a:p>
          </p:txBody>
        </p:sp>
        <p:grpSp>
          <p:nvGrpSpPr>
            <p:cNvPr id="14" name="Group 14"/>
            <p:cNvGrpSpPr/>
            <p:nvPr/>
          </p:nvGrpSpPr>
          <p:grpSpPr>
            <a:xfrm>
              <a:off x="0" y="1341801"/>
              <a:ext cx="16974751" cy="1219577"/>
              <a:chOff x="0" y="0"/>
              <a:chExt cx="4373318" cy="314208"/>
            </a:xfrm>
          </p:grpSpPr>
          <p:sp>
            <p:nvSpPr>
              <p:cNvPr id="15" name="Freeform 15"/>
              <p:cNvSpPr/>
              <p:nvPr/>
            </p:nvSpPr>
            <p:spPr>
              <a:xfrm>
                <a:off x="0" y="0"/>
                <a:ext cx="4373318" cy="314208"/>
              </a:xfrm>
              <a:custGeom>
                <a:avLst/>
                <a:gdLst/>
                <a:ahLst/>
                <a:cxnLst/>
                <a:rect l="l" t="t" r="r" b="b"/>
                <a:pathLst>
                  <a:path w="4373318" h="314208">
                    <a:moveTo>
                      <a:pt x="18243" y="0"/>
                    </a:moveTo>
                    <a:lnTo>
                      <a:pt x="4355075" y="0"/>
                    </a:lnTo>
                    <a:cubicBezTo>
                      <a:pt x="4359913" y="0"/>
                      <a:pt x="4364554" y="1922"/>
                      <a:pt x="4367975" y="5343"/>
                    </a:cubicBezTo>
                    <a:cubicBezTo>
                      <a:pt x="4371396" y="8765"/>
                      <a:pt x="4373318" y="13405"/>
                      <a:pt x="4373318" y="18243"/>
                    </a:cubicBezTo>
                    <a:lnTo>
                      <a:pt x="4373318" y="295964"/>
                    </a:lnTo>
                    <a:cubicBezTo>
                      <a:pt x="4373318" y="306040"/>
                      <a:pt x="4365151" y="314208"/>
                      <a:pt x="4355075" y="314208"/>
                    </a:cubicBezTo>
                    <a:lnTo>
                      <a:pt x="18243" y="314208"/>
                    </a:lnTo>
                    <a:cubicBezTo>
                      <a:pt x="13405" y="314208"/>
                      <a:pt x="8765" y="312286"/>
                      <a:pt x="5343" y="308864"/>
                    </a:cubicBezTo>
                    <a:cubicBezTo>
                      <a:pt x="1922" y="305443"/>
                      <a:pt x="0" y="300803"/>
                      <a:pt x="0" y="295964"/>
                    </a:cubicBezTo>
                    <a:lnTo>
                      <a:pt x="0" y="18243"/>
                    </a:lnTo>
                    <a:cubicBezTo>
                      <a:pt x="0" y="13405"/>
                      <a:pt x="1922" y="8765"/>
                      <a:pt x="5343" y="5343"/>
                    </a:cubicBezTo>
                    <a:cubicBezTo>
                      <a:pt x="8765" y="1922"/>
                      <a:pt x="13405" y="0"/>
                      <a:pt x="18243" y="0"/>
                    </a:cubicBezTo>
                    <a:close/>
                  </a:path>
                </a:pathLst>
              </a:custGeom>
              <a:solidFill>
                <a:srgbClr val="DAEAFF"/>
              </a:solidFill>
              <a:ln w="19050" cap="rnd">
                <a:solidFill>
                  <a:srgbClr val="F5EBFF"/>
                </a:solidFill>
                <a:prstDash val="solid"/>
                <a:round/>
              </a:ln>
            </p:spPr>
            <p:txBody>
              <a:bodyPr/>
              <a:lstStyle/>
              <a:p>
                <a:endParaRPr lang="vi-VN"/>
              </a:p>
            </p:txBody>
          </p:sp>
          <p:sp>
            <p:nvSpPr>
              <p:cNvPr id="16" name="TextBox 16"/>
              <p:cNvSpPr txBox="1"/>
              <p:nvPr/>
            </p:nvSpPr>
            <p:spPr>
              <a:xfrm>
                <a:off x="0" y="-19050"/>
                <a:ext cx="4373318" cy="333258"/>
              </a:xfrm>
              <a:prstGeom prst="rect">
                <a:avLst/>
              </a:prstGeom>
            </p:spPr>
            <p:txBody>
              <a:bodyPr lIns="38949" tIns="38949" rIns="38949" bIns="38949" rtlCol="0" anchor="ctr"/>
              <a:lstStyle/>
              <a:p>
                <a:pPr marL="0" lvl="0" indent="0" algn="ctr">
                  <a:lnSpc>
                    <a:spcPts val="2610"/>
                  </a:lnSpc>
                  <a:spcBef>
                    <a:spcPct val="0"/>
                  </a:spcBef>
                </a:pPr>
                <a:endParaRPr/>
              </a:p>
            </p:txBody>
          </p:sp>
        </p:grpSp>
        <p:sp>
          <p:nvSpPr>
            <p:cNvPr id="17" name="TextBox 17"/>
            <p:cNvSpPr txBox="1"/>
            <p:nvPr/>
          </p:nvSpPr>
          <p:spPr>
            <a:xfrm>
              <a:off x="512961" y="1503383"/>
              <a:ext cx="15671070" cy="858312"/>
            </a:xfrm>
            <a:prstGeom prst="rect">
              <a:avLst/>
            </a:prstGeom>
          </p:spPr>
          <p:txBody>
            <a:bodyPr lIns="0" tIns="0" rIns="0" bIns="0" rtlCol="0" anchor="t">
              <a:spAutoFit/>
            </a:bodyPr>
            <a:lstStyle/>
            <a:p>
              <a:pPr marL="0" lvl="0" indent="0" algn="l">
                <a:lnSpc>
                  <a:spcPts val="5280"/>
                </a:lnSpc>
                <a:spcBef>
                  <a:spcPct val="0"/>
                </a:spcBef>
              </a:pPr>
              <a:r>
                <a:rPr lang="en-US" sz="4062" b="1">
                  <a:solidFill>
                    <a:srgbClr val="000000"/>
                  </a:solidFill>
                  <a:latin typeface="Muli Regular Bold"/>
                  <a:ea typeface="Muli Regular Bold"/>
                  <a:cs typeface="Muli Regular Bold"/>
                  <a:sym typeface="Muli Regular Bold"/>
                </a:rPr>
                <a:t>LA THÁI THỤY                               48.01.104.132</a:t>
              </a:r>
            </a:p>
          </p:txBody>
        </p:sp>
        <p:grpSp>
          <p:nvGrpSpPr>
            <p:cNvPr id="18" name="Group 18"/>
            <p:cNvGrpSpPr/>
            <p:nvPr/>
          </p:nvGrpSpPr>
          <p:grpSpPr>
            <a:xfrm>
              <a:off x="0" y="2688378"/>
              <a:ext cx="16974751" cy="1219577"/>
              <a:chOff x="0" y="0"/>
              <a:chExt cx="4373318" cy="314208"/>
            </a:xfrm>
          </p:grpSpPr>
          <p:sp>
            <p:nvSpPr>
              <p:cNvPr id="19" name="Freeform 19"/>
              <p:cNvSpPr/>
              <p:nvPr/>
            </p:nvSpPr>
            <p:spPr>
              <a:xfrm>
                <a:off x="0" y="0"/>
                <a:ext cx="4373318" cy="314208"/>
              </a:xfrm>
              <a:custGeom>
                <a:avLst/>
                <a:gdLst/>
                <a:ahLst/>
                <a:cxnLst/>
                <a:rect l="l" t="t" r="r" b="b"/>
                <a:pathLst>
                  <a:path w="4373318" h="314208">
                    <a:moveTo>
                      <a:pt x="18243" y="0"/>
                    </a:moveTo>
                    <a:lnTo>
                      <a:pt x="4355075" y="0"/>
                    </a:lnTo>
                    <a:cubicBezTo>
                      <a:pt x="4359913" y="0"/>
                      <a:pt x="4364554" y="1922"/>
                      <a:pt x="4367975" y="5343"/>
                    </a:cubicBezTo>
                    <a:cubicBezTo>
                      <a:pt x="4371396" y="8765"/>
                      <a:pt x="4373318" y="13405"/>
                      <a:pt x="4373318" y="18243"/>
                    </a:cubicBezTo>
                    <a:lnTo>
                      <a:pt x="4373318" y="295964"/>
                    </a:lnTo>
                    <a:cubicBezTo>
                      <a:pt x="4373318" y="306040"/>
                      <a:pt x="4365151" y="314208"/>
                      <a:pt x="4355075" y="314208"/>
                    </a:cubicBezTo>
                    <a:lnTo>
                      <a:pt x="18243" y="314208"/>
                    </a:lnTo>
                    <a:cubicBezTo>
                      <a:pt x="13405" y="314208"/>
                      <a:pt x="8765" y="312286"/>
                      <a:pt x="5343" y="308864"/>
                    </a:cubicBezTo>
                    <a:cubicBezTo>
                      <a:pt x="1922" y="305443"/>
                      <a:pt x="0" y="300803"/>
                      <a:pt x="0" y="295964"/>
                    </a:cubicBezTo>
                    <a:lnTo>
                      <a:pt x="0" y="18243"/>
                    </a:lnTo>
                    <a:cubicBezTo>
                      <a:pt x="0" y="13405"/>
                      <a:pt x="1922" y="8765"/>
                      <a:pt x="5343" y="5343"/>
                    </a:cubicBezTo>
                    <a:cubicBezTo>
                      <a:pt x="8765" y="1922"/>
                      <a:pt x="13405" y="0"/>
                      <a:pt x="18243" y="0"/>
                    </a:cubicBezTo>
                    <a:close/>
                  </a:path>
                </a:pathLst>
              </a:custGeom>
              <a:solidFill>
                <a:srgbClr val="DAEAFF"/>
              </a:solidFill>
              <a:ln w="19050" cap="rnd">
                <a:solidFill>
                  <a:srgbClr val="F5EBFF"/>
                </a:solidFill>
                <a:prstDash val="solid"/>
                <a:round/>
              </a:ln>
            </p:spPr>
            <p:txBody>
              <a:bodyPr/>
              <a:lstStyle/>
              <a:p>
                <a:endParaRPr lang="vi-VN"/>
              </a:p>
            </p:txBody>
          </p:sp>
          <p:sp>
            <p:nvSpPr>
              <p:cNvPr id="20" name="TextBox 20"/>
              <p:cNvSpPr txBox="1"/>
              <p:nvPr/>
            </p:nvSpPr>
            <p:spPr>
              <a:xfrm>
                <a:off x="0" y="-19050"/>
                <a:ext cx="4373318" cy="333258"/>
              </a:xfrm>
              <a:prstGeom prst="rect">
                <a:avLst/>
              </a:prstGeom>
            </p:spPr>
            <p:txBody>
              <a:bodyPr lIns="38949" tIns="38949" rIns="38949" bIns="38949" rtlCol="0" anchor="ctr"/>
              <a:lstStyle/>
              <a:p>
                <a:pPr marL="0" lvl="0" indent="0" algn="ctr">
                  <a:lnSpc>
                    <a:spcPts val="2610"/>
                  </a:lnSpc>
                  <a:spcBef>
                    <a:spcPct val="0"/>
                  </a:spcBef>
                </a:pPr>
                <a:endParaRPr/>
              </a:p>
            </p:txBody>
          </p:sp>
        </p:grpSp>
        <p:sp>
          <p:nvSpPr>
            <p:cNvPr id="21" name="TextBox 21"/>
            <p:cNvSpPr txBox="1"/>
            <p:nvPr/>
          </p:nvSpPr>
          <p:spPr>
            <a:xfrm>
              <a:off x="512961" y="2849961"/>
              <a:ext cx="15671070" cy="858312"/>
            </a:xfrm>
            <a:prstGeom prst="rect">
              <a:avLst/>
            </a:prstGeom>
          </p:spPr>
          <p:txBody>
            <a:bodyPr lIns="0" tIns="0" rIns="0" bIns="0" rtlCol="0" anchor="t">
              <a:spAutoFit/>
            </a:bodyPr>
            <a:lstStyle/>
            <a:p>
              <a:pPr marL="0" lvl="0" indent="0" algn="l">
                <a:lnSpc>
                  <a:spcPts val="5280"/>
                </a:lnSpc>
                <a:spcBef>
                  <a:spcPct val="0"/>
                </a:spcBef>
              </a:pPr>
              <a:r>
                <a:rPr lang="en-US" sz="4062" b="1">
                  <a:solidFill>
                    <a:srgbClr val="000000"/>
                  </a:solidFill>
                  <a:latin typeface="Muli Regular Bold"/>
                  <a:ea typeface="Muli Regular Bold"/>
                  <a:cs typeface="Muli Regular Bold"/>
                  <a:sym typeface="Muli Regular Bold"/>
                </a:rPr>
                <a:t>NGUYỄN THỊ MỸ DUYÊN              48.01.104.036</a:t>
              </a:r>
            </a:p>
          </p:txBody>
        </p:sp>
        <p:grpSp>
          <p:nvGrpSpPr>
            <p:cNvPr id="22" name="Group 22"/>
            <p:cNvGrpSpPr/>
            <p:nvPr/>
          </p:nvGrpSpPr>
          <p:grpSpPr>
            <a:xfrm>
              <a:off x="0" y="4034955"/>
              <a:ext cx="16974751" cy="1219577"/>
              <a:chOff x="0" y="0"/>
              <a:chExt cx="4373318" cy="314208"/>
            </a:xfrm>
          </p:grpSpPr>
          <p:sp>
            <p:nvSpPr>
              <p:cNvPr id="23" name="Freeform 23"/>
              <p:cNvSpPr/>
              <p:nvPr/>
            </p:nvSpPr>
            <p:spPr>
              <a:xfrm>
                <a:off x="0" y="0"/>
                <a:ext cx="4373318" cy="314208"/>
              </a:xfrm>
              <a:custGeom>
                <a:avLst/>
                <a:gdLst/>
                <a:ahLst/>
                <a:cxnLst/>
                <a:rect l="l" t="t" r="r" b="b"/>
                <a:pathLst>
                  <a:path w="4373318" h="314208">
                    <a:moveTo>
                      <a:pt x="18243" y="0"/>
                    </a:moveTo>
                    <a:lnTo>
                      <a:pt x="4355075" y="0"/>
                    </a:lnTo>
                    <a:cubicBezTo>
                      <a:pt x="4359913" y="0"/>
                      <a:pt x="4364554" y="1922"/>
                      <a:pt x="4367975" y="5343"/>
                    </a:cubicBezTo>
                    <a:cubicBezTo>
                      <a:pt x="4371396" y="8765"/>
                      <a:pt x="4373318" y="13405"/>
                      <a:pt x="4373318" y="18243"/>
                    </a:cubicBezTo>
                    <a:lnTo>
                      <a:pt x="4373318" y="295964"/>
                    </a:lnTo>
                    <a:cubicBezTo>
                      <a:pt x="4373318" y="306040"/>
                      <a:pt x="4365151" y="314208"/>
                      <a:pt x="4355075" y="314208"/>
                    </a:cubicBezTo>
                    <a:lnTo>
                      <a:pt x="18243" y="314208"/>
                    </a:lnTo>
                    <a:cubicBezTo>
                      <a:pt x="13405" y="314208"/>
                      <a:pt x="8765" y="312286"/>
                      <a:pt x="5343" y="308864"/>
                    </a:cubicBezTo>
                    <a:cubicBezTo>
                      <a:pt x="1922" y="305443"/>
                      <a:pt x="0" y="300803"/>
                      <a:pt x="0" y="295964"/>
                    </a:cubicBezTo>
                    <a:lnTo>
                      <a:pt x="0" y="18243"/>
                    </a:lnTo>
                    <a:cubicBezTo>
                      <a:pt x="0" y="13405"/>
                      <a:pt x="1922" y="8765"/>
                      <a:pt x="5343" y="5343"/>
                    </a:cubicBezTo>
                    <a:cubicBezTo>
                      <a:pt x="8765" y="1922"/>
                      <a:pt x="13405" y="0"/>
                      <a:pt x="18243" y="0"/>
                    </a:cubicBezTo>
                    <a:close/>
                  </a:path>
                </a:pathLst>
              </a:custGeom>
              <a:solidFill>
                <a:srgbClr val="DAEAFF"/>
              </a:solidFill>
              <a:ln w="19050" cap="rnd">
                <a:solidFill>
                  <a:srgbClr val="F5EBFF"/>
                </a:solidFill>
                <a:prstDash val="solid"/>
                <a:round/>
              </a:ln>
            </p:spPr>
            <p:txBody>
              <a:bodyPr/>
              <a:lstStyle/>
              <a:p>
                <a:endParaRPr lang="vi-VN"/>
              </a:p>
            </p:txBody>
          </p:sp>
          <p:sp>
            <p:nvSpPr>
              <p:cNvPr id="24" name="TextBox 24"/>
              <p:cNvSpPr txBox="1"/>
              <p:nvPr/>
            </p:nvSpPr>
            <p:spPr>
              <a:xfrm>
                <a:off x="0" y="-19050"/>
                <a:ext cx="4373318" cy="333258"/>
              </a:xfrm>
              <a:prstGeom prst="rect">
                <a:avLst/>
              </a:prstGeom>
            </p:spPr>
            <p:txBody>
              <a:bodyPr lIns="38949" tIns="38949" rIns="38949" bIns="38949" rtlCol="0" anchor="ctr"/>
              <a:lstStyle/>
              <a:p>
                <a:pPr marL="0" lvl="0" indent="0" algn="ctr">
                  <a:lnSpc>
                    <a:spcPts val="2610"/>
                  </a:lnSpc>
                  <a:spcBef>
                    <a:spcPct val="0"/>
                  </a:spcBef>
                </a:pPr>
                <a:endParaRPr/>
              </a:p>
            </p:txBody>
          </p:sp>
        </p:grpSp>
        <p:sp>
          <p:nvSpPr>
            <p:cNvPr id="25" name="TextBox 25"/>
            <p:cNvSpPr txBox="1"/>
            <p:nvPr/>
          </p:nvSpPr>
          <p:spPr>
            <a:xfrm>
              <a:off x="512961" y="4196538"/>
              <a:ext cx="15671070" cy="858312"/>
            </a:xfrm>
            <a:prstGeom prst="rect">
              <a:avLst/>
            </a:prstGeom>
          </p:spPr>
          <p:txBody>
            <a:bodyPr lIns="0" tIns="0" rIns="0" bIns="0" rtlCol="0" anchor="t">
              <a:spAutoFit/>
            </a:bodyPr>
            <a:lstStyle/>
            <a:p>
              <a:pPr marL="0" lvl="0" indent="0" algn="l">
                <a:lnSpc>
                  <a:spcPts val="5280"/>
                </a:lnSpc>
                <a:spcBef>
                  <a:spcPct val="0"/>
                </a:spcBef>
              </a:pPr>
              <a:r>
                <a:rPr lang="en-US" sz="4062" b="1">
                  <a:solidFill>
                    <a:srgbClr val="000000"/>
                  </a:solidFill>
                  <a:latin typeface="Muli Regular Bold"/>
                  <a:ea typeface="Muli Regular Bold"/>
                  <a:cs typeface="Muli Regular Bold"/>
                  <a:sym typeface="Muli Regular Bold"/>
                </a:rPr>
                <a:t>CAO THỊ XUÂN ĐẠT                     48.01.104.021</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TextBox 4"/>
          <p:cNvSpPr txBox="1"/>
          <p:nvPr/>
        </p:nvSpPr>
        <p:spPr>
          <a:xfrm>
            <a:off x="4587770" y="3276542"/>
            <a:ext cx="9112460" cy="5287460"/>
          </a:xfrm>
          <a:prstGeom prst="rect">
            <a:avLst/>
          </a:prstGeom>
        </p:spPr>
        <p:txBody>
          <a:bodyPr lIns="0" tIns="0" rIns="0" bIns="0" rtlCol="0" anchor="t">
            <a:spAutoFit/>
          </a:bodyPr>
          <a:lstStyle/>
          <a:p>
            <a:pPr marL="1206139" lvl="1" indent="-603069" algn="l">
              <a:lnSpc>
                <a:spcPts val="10670"/>
              </a:lnSpc>
              <a:buAutoNum type="arabicPeriod"/>
            </a:pPr>
            <a:r>
              <a:rPr lang="en-US" sz="5586">
                <a:solidFill>
                  <a:srgbClr val="000000"/>
                </a:solidFill>
                <a:latin typeface="Cabin"/>
                <a:ea typeface="Cabin"/>
                <a:cs typeface="Cabin"/>
                <a:sym typeface="Cabin"/>
              </a:rPr>
              <a:t> Công cụ sử dụng</a:t>
            </a:r>
          </a:p>
          <a:p>
            <a:pPr marL="1206139" lvl="1" indent="-603069" algn="l">
              <a:lnSpc>
                <a:spcPts val="10670"/>
              </a:lnSpc>
              <a:buAutoNum type="arabicPeriod"/>
            </a:pPr>
            <a:r>
              <a:rPr lang="en-US" sz="5586">
                <a:solidFill>
                  <a:srgbClr val="000000"/>
                </a:solidFill>
                <a:latin typeface="Cabin"/>
                <a:ea typeface="Cabin"/>
                <a:cs typeface="Cabin"/>
                <a:sym typeface="Cabin"/>
              </a:rPr>
              <a:t> Xây dựng cơ sở dữ liệu</a:t>
            </a:r>
          </a:p>
          <a:p>
            <a:pPr marL="1206139" lvl="1" indent="-603069" algn="l">
              <a:lnSpc>
                <a:spcPts val="10670"/>
              </a:lnSpc>
              <a:buAutoNum type="arabicPeriod"/>
            </a:pPr>
            <a:r>
              <a:rPr lang="en-US" sz="5586">
                <a:solidFill>
                  <a:srgbClr val="000000"/>
                </a:solidFill>
                <a:latin typeface="Cabin"/>
                <a:ea typeface="Cabin"/>
                <a:cs typeface="Cabin"/>
                <a:sym typeface="Cabin"/>
              </a:rPr>
              <a:t> Xây dựng chương trình</a:t>
            </a:r>
          </a:p>
          <a:p>
            <a:pPr marL="1206139" lvl="1" indent="-603069" algn="l">
              <a:lnSpc>
                <a:spcPts val="10670"/>
              </a:lnSpc>
              <a:buAutoNum type="arabicPeriod"/>
            </a:pPr>
            <a:r>
              <a:rPr lang="en-US" sz="5586">
                <a:solidFill>
                  <a:srgbClr val="000000"/>
                </a:solidFill>
                <a:latin typeface="Cabin"/>
                <a:ea typeface="Cabin"/>
                <a:cs typeface="Cabin"/>
                <a:sym typeface="Cabin"/>
              </a:rPr>
              <a:t> Demo</a:t>
            </a:r>
          </a:p>
        </p:txBody>
      </p:sp>
      <p:grpSp>
        <p:nvGrpSpPr>
          <p:cNvPr id="5" name="Group 5"/>
          <p:cNvGrpSpPr/>
          <p:nvPr/>
        </p:nvGrpSpPr>
        <p:grpSpPr>
          <a:xfrm>
            <a:off x="6440265" y="1631781"/>
            <a:ext cx="5407471" cy="1106533"/>
            <a:chOff x="0" y="0"/>
            <a:chExt cx="7209961" cy="1475378"/>
          </a:xfrm>
        </p:grpSpPr>
        <p:grpSp>
          <p:nvGrpSpPr>
            <p:cNvPr id="6" name="Group 6"/>
            <p:cNvGrpSpPr/>
            <p:nvPr/>
          </p:nvGrpSpPr>
          <p:grpSpPr>
            <a:xfrm>
              <a:off x="0" y="0"/>
              <a:ext cx="7209961" cy="1475378"/>
              <a:chOff x="0" y="0"/>
              <a:chExt cx="1424190" cy="291433"/>
            </a:xfrm>
          </p:grpSpPr>
          <p:sp>
            <p:nvSpPr>
              <p:cNvPr id="7" name="Freeform 7"/>
              <p:cNvSpPr/>
              <p:nvPr/>
            </p:nvSpPr>
            <p:spPr>
              <a:xfrm>
                <a:off x="0" y="0"/>
                <a:ext cx="1424190" cy="291433"/>
              </a:xfrm>
              <a:custGeom>
                <a:avLst/>
                <a:gdLst/>
                <a:ahLst/>
                <a:cxnLst/>
                <a:rect l="l" t="t" r="r" b="b"/>
                <a:pathLst>
                  <a:path w="1424190" h="291433">
                    <a:moveTo>
                      <a:pt x="143171" y="0"/>
                    </a:moveTo>
                    <a:lnTo>
                      <a:pt x="1281019" y="0"/>
                    </a:lnTo>
                    <a:cubicBezTo>
                      <a:pt x="1318990" y="0"/>
                      <a:pt x="1355406" y="15084"/>
                      <a:pt x="1382256" y="41934"/>
                    </a:cubicBezTo>
                    <a:cubicBezTo>
                      <a:pt x="1409106" y="68784"/>
                      <a:pt x="1424190" y="105200"/>
                      <a:pt x="1424190" y="143171"/>
                    </a:cubicBezTo>
                    <a:lnTo>
                      <a:pt x="1424190" y="148262"/>
                    </a:lnTo>
                    <a:cubicBezTo>
                      <a:pt x="1424190" y="186233"/>
                      <a:pt x="1409106" y="222649"/>
                      <a:pt x="1382256" y="249499"/>
                    </a:cubicBezTo>
                    <a:cubicBezTo>
                      <a:pt x="1355406" y="276349"/>
                      <a:pt x="1318990" y="291433"/>
                      <a:pt x="1281019" y="291433"/>
                    </a:cubicBezTo>
                    <a:lnTo>
                      <a:pt x="143171" y="291433"/>
                    </a:lnTo>
                    <a:cubicBezTo>
                      <a:pt x="105200" y="291433"/>
                      <a:pt x="68784" y="276349"/>
                      <a:pt x="41934" y="249499"/>
                    </a:cubicBezTo>
                    <a:cubicBezTo>
                      <a:pt x="15084" y="222649"/>
                      <a:pt x="0" y="186233"/>
                      <a:pt x="0" y="148262"/>
                    </a:cubicBezTo>
                    <a:lnTo>
                      <a:pt x="0" y="143171"/>
                    </a:lnTo>
                    <a:cubicBezTo>
                      <a:pt x="0" y="105200"/>
                      <a:pt x="15084" y="68784"/>
                      <a:pt x="41934" y="41934"/>
                    </a:cubicBezTo>
                    <a:cubicBezTo>
                      <a:pt x="68784" y="15084"/>
                      <a:pt x="105200" y="0"/>
                      <a:pt x="143171" y="0"/>
                    </a:cubicBezTo>
                    <a:close/>
                  </a:path>
                </a:pathLst>
              </a:custGeom>
              <a:solidFill>
                <a:srgbClr val="2B485F"/>
              </a:solidFill>
            </p:spPr>
            <p:txBody>
              <a:bodyPr/>
              <a:lstStyle/>
              <a:p>
                <a:endParaRPr lang="vi-VN"/>
              </a:p>
            </p:txBody>
          </p:sp>
          <p:sp>
            <p:nvSpPr>
              <p:cNvPr id="8" name="TextBox 8"/>
              <p:cNvSpPr txBox="1"/>
              <p:nvPr/>
            </p:nvSpPr>
            <p:spPr>
              <a:xfrm>
                <a:off x="0" y="-38100"/>
                <a:ext cx="1424190" cy="329533"/>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267105" y="308216"/>
              <a:ext cx="4675750" cy="963720"/>
            </a:xfrm>
            <a:prstGeom prst="rect">
              <a:avLst/>
            </a:prstGeom>
          </p:spPr>
          <p:txBody>
            <a:bodyPr lIns="0" tIns="0" rIns="0" bIns="0" rtlCol="0" anchor="t">
              <a:spAutoFit/>
            </a:bodyPr>
            <a:lstStyle/>
            <a:p>
              <a:pPr algn="ctr">
                <a:lnSpc>
                  <a:spcPts val="5300"/>
                </a:lnSpc>
              </a:pPr>
              <a:r>
                <a:rPr lang="en-US" sz="5300" b="1">
                  <a:solidFill>
                    <a:srgbClr val="FFFFFF"/>
                  </a:solidFill>
                  <a:latin typeface="Muli Regular Bold"/>
                  <a:ea typeface="Muli Regular Bold"/>
                  <a:cs typeface="Muli Regular Bold"/>
                  <a:sym typeface="Muli Regular Bold"/>
                </a:rPr>
                <a:t>NỘI DUNG</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3176970" y="4572329"/>
            <a:ext cx="3570850" cy="3168203"/>
          </a:xfrm>
          <a:custGeom>
            <a:avLst/>
            <a:gdLst/>
            <a:ahLst/>
            <a:cxnLst/>
            <a:rect l="l" t="t" r="r" b="b"/>
            <a:pathLst>
              <a:path w="3570850" h="3168203">
                <a:moveTo>
                  <a:pt x="0" y="0"/>
                </a:moveTo>
                <a:lnTo>
                  <a:pt x="3570850" y="0"/>
                </a:lnTo>
                <a:lnTo>
                  <a:pt x="3570850" y="3168203"/>
                </a:lnTo>
                <a:lnTo>
                  <a:pt x="0" y="3168203"/>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987772" y="2441761"/>
            <a:ext cx="3173462"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1.1. Docker</a:t>
            </a:r>
          </a:p>
        </p:txBody>
      </p:sp>
      <p:sp>
        <p:nvSpPr>
          <p:cNvPr id="7" name="TextBox 7"/>
          <p:cNvSpPr txBox="1"/>
          <p:nvPr/>
        </p:nvSpPr>
        <p:spPr>
          <a:xfrm>
            <a:off x="1028700" y="3948299"/>
            <a:ext cx="11556366" cy="5549900"/>
          </a:xfrm>
          <a:prstGeom prst="rect">
            <a:avLst/>
          </a:prstGeom>
        </p:spPr>
        <p:txBody>
          <a:bodyPr lIns="0" tIns="0" rIns="0" bIns="0" rtlCol="0" anchor="t">
            <a:spAutoFit/>
          </a:bodyPr>
          <a:lstStyle/>
          <a:p>
            <a:pPr marL="755651" lvl="1" indent="-377825" algn="l">
              <a:lnSpc>
                <a:spcPts val="4900"/>
              </a:lnSpc>
              <a:buFont typeface="Arial"/>
              <a:buChar char="•"/>
            </a:pPr>
            <a:r>
              <a:rPr lang="en-US" sz="3500" b="1">
                <a:solidFill>
                  <a:srgbClr val="000000"/>
                </a:solidFill>
                <a:latin typeface="Muli Bold"/>
                <a:ea typeface="Muli Bold"/>
                <a:cs typeface="Muli Bold"/>
                <a:sym typeface="Muli Bold"/>
              </a:rPr>
              <a:t>Docker</a:t>
            </a:r>
            <a:r>
              <a:rPr lang="en-US" sz="3500">
                <a:solidFill>
                  <a:srgbClr val="000000"/>
                </a:solidFill>
                <a:latin typeface="Muli"/>
                <a:ea typeface="Muli"/>
                <a:cs typeface="Muli"/>
                <a:sym typeface="Muli"/>
              </a:rPr>
              <a:t> là nền tảng container hóa, cho phép đóng gói ứng dụng cùng dependencies vào một container nhẹ, chạy đồng nhất trên mọi môi trường.  </a:t>
            </a:r>
          </a:p>
          <a:p>
            <a:pPr marL="755651" lvl="1" indent="-377825" algn="l">
              <a:lnSpc>
                <a:spcPts val="4900"/>
              </a:lnSpc>
              <a:buFont typeface="Arial"/>
              <a:buChar char="•"/>
            </a:pPr>
            <a:r>
              <a:rPr lang="en-US" sz="3500">
                <a:solidFill>
                  <a:srgbClr val="000000"/>
                </a:solidFill>
                <a:latin typeface="Muli"/>
                <a:ea typeface="Muli"/>
                <a:cs typeface="Muli"/>
                <a:sym typeface="Muli"/>
              </a:rPr>
              <a:t>Trong Docker, </a:t>
            </a:r>
            <a:r>
              <a:rPr lang="en-US" sz="3500" b="1">
                <a:solidFill>
                  <a:srgbClr val="000000"/>
                </a:solidFill>
                <a:latin typeface="Muli Bold"/>
                <a:ea typeface="Muli Bold"/>
                <a:cs typeface="Muli Bold"/>
                <a:sym typeface="Muli Bold"/>
              </a:rPr>
              <a:t>Container</a:t>
            </a:r>
            <a:r>
              <a:rPr lang="en-US" sz="3500">
                <a:solidFill>
                  <a:srgbClr val="000000"/>
                </a:solidFill>
                <a:latin typeface="Muli"/>
                <a:ea typeface="Muli"/>
                <a:cs typeface="Muli"/>
                <a:sym typeface="Muli"/>
              </a:rPr>
              <a:t> chia sẻ </a:t>
            </a:r>
            <a:r>
              <a:rPr lang="en-US" sz="3500" b="1">
                <a:solidFill>
                  <a:srgbClr val="000000"/>
                </a:solidFill>
                <a:latin typeface="Muli Bold"/>
                <a:ea typeface="Muli Bold"/>
                <a:cs typeface="Muli Bold"/>
                <a:sym typeface="Muli Bold"/>
              </a:rPr>
              <a:t>kernel</a:t>
            </a:r>
            <a:r>
              <a:rPr lang="en-US" sz="3500">
                <a:solidFill>
                  <a:srgbClr val="000000"/>
                </a:solidFill>
                <a:latin typeface="Muli"/>
                <a:ea typeface="Muli"/>
                <a:cs typeface="Muli"/>
                <a:sym typeface="Muli"/>
              </a:rPr>
              <a:t> của hệ điều hành host, khởi động nhanh và tiêu tốn ít tài nguyên hệ thống</a:t>
            </a:r>
          </a:p>
          <a:p>
            <a:pPr marL="755651" lvl="1" indent="-377825" algn="l">
              <a:lnSpc>
                <a:spcPts val="4900"/>
              </a:lnSpc>
              <a:buFont typeface="Arial"/>
              <a:buChar char="•"/>
            </a:pPr>
            <a:r>
              <a:rPr lang="en-US" sz="3500">
                <a:solidFill>
                  <a:srgbClr val="000000"/>
                </a:solidFill>
                <a:latin typeface="Muli"/>
                <a:ea typeface="Muli"/>
                <a:cs typeface="Muli"/>
                <a:sym typeface="Muli"/>
              </a:rPr>
              <a:t>Dùng image bất biến để tạo container, hỗ trợ build, share và deploy dễ dàng qua </a:t>
            </a:r>
            <a:r>
              <a:rPr lang="en-US" sz="3500" b="1">
                <a:solidFill>
                  <a:srgbClr val="000000"/>
                </a:solidFill>
                <a:latin typeface="Muli Bold"/>
                <a:ea typeface="Muli Bold"/>
                <a:cs typeface="Muli Bold"/>
                <a:sym typeface="Muli Bold"/>
              </a:rPr>
              <a:t>Docker Hub</a:t>
            </a:r>
            <a:r>
              <a:rPr lang="en-US" sz="3500">
                <a:solidFill>
                  <a:srgbClr val="000000"/>
                </a:solidFill>
                <a:latin typeface="Muli"/>
                <a:ea typeface="Muli"/>
                <a:cs typeface="Muli"/>
                <a:sym typeface="Muli"/>
              </a:rPr>
              <a:t>.</a:t>
            </a:r>
          </a:p>
          <a:p>
            <a:pPr algn="l">
              <a:lnSpc>
                <a:spcPts val="4900"/>
              </a:lnSpc>
              <a:spcBef>
                <a:spcPct val="0"/>
              </a:spcBef>
            </a:pPr>
            <a:endParaRPr lang="en-US" sz="3500">
              <a:solidFill>
                <a:srgbClr val="000000"/>
              </a:solidFill>
              <a:latin typeface="Muli"/>
              <a:ea typeface="Muli"/>
              <a:cs typeface="Muli"/>
              <a:sym typeface="Mul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2356454" y="4649109"/>
            <a:ext cx="5114246" cy="2985532"/>
          </a:xfrm>
          <a:custGeom>
            <a:avLst/>
            <a:gdLst/>
            <a:ahLst/>
            <a:cxnLst/>
            <a:rect l="l" t="t" r="r" b="b"/>
            <a:pathLst>
              <a:path w="5114246" h="2985532">
                <a:moveTo>
                  <a:pt x="0" y="0"/>
                </a:moveTo>
                <a:lnTo>
                  <a:pt x="5114247" y="0"/>
                </a:lnTo>
                <a:lnTo>
                  <a:pt x="5114247" y="2985532"/>
                </a:lnTo>
                <a:lnTo>
                  <a:pt x="0" y="2985532"/>
                </a:lnTo>
                <a:lnTo>
                  <a:pt x="0" y="0"/>
                </a:lnTo>
                <a:close/>
              </a:path>
            </a:pathLst>
          </a:custGeom>
          <a:blipFill>
            <a:blip r:embed="rId3"/>
            <a:stretch>
              <a:fillRect l="-1890" r="-1890"/>
            </a:stretch>
          </a:blipFill>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1028700" y="2603826"/>
            <a:ext cx="9581954"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1.2. Microsoft Visual Studio Code</a:t>
            </a:r>
          </a:p>
        </p:txBody>
      </p:sp>
      <p:sp>
        <p:nvSpPr>
          <p:cNvPr id="7" name="TextBox 7"/>
          <p:cNvSpPr txBox="1"/>
          <p:nvPr/>
        </p:nvSpPr>
        <p:spPr>
          <a:xfrm>
            <a:off x="1028700" y="3957824"/>
            <a:ext cx="10714417" cy="5971540"/>
          </a:xfrm>
          <a:prstGeom prst="rect">
            <a:avLst/>
          </a:prstGeom>
        </p:spPr>
        <p:txBody>
          <a:bodyPr lIns="0" tIns="0" rIns="0" bIns="0" rtlCol="0" anchor="t">
            <a:spAutoFit/>
          </a:bodyPr>
          <a:lstStyle/>
          <a:p>
            <a:pPr marL="734059" lvl="1" indent="-367030" algn="l">
              <a:lnSpc>
                <a:spcPts val="4759"/>
              </a:lnSpc>
              <a:buFont typeface="Arial"/>
              <a:buChar char="•"/>
            </a:pPr>
            <a:r>
              <a:rPr lang="en-US" sz="3399" b="1">
                <a:solidFill>
                  <a:srgbClr val="000000"/>
                </a:solidFill>
                <a:latin typeface="Muli Bold"/>
                <a:ea typeface="Muli Bold"/>
                <a:cs typeface="Muli Bold"/>
                <a:sym typeface="Muli Bold"/>
              </a:rPr>
              <a:t>Visual Studio Code</a:t>
            </a:r>
            <a:r>
              <a:rPr lang="en-US" sz="3399">
                <a:solidFill>
                  <a:srgbClr val="000000"/>
                </a:solidFill>
                <a:latin typeface="Muli"/>
                <a:ea typeface="Muli"/>
                <a:cs typeface="Muli"/>
                <a:sym typeface="Muli"/>
              </a:rPr>
              <a:t> ( hay VS Code ) là t</a:t>
            </a:r>
            <a:r>
              <a:rPr lang="en-US" sz="3399" b="1">
                <a:solidFill>
                  <a:srgbClr val="000000"/>
                </a:solidFill>
                <a:latin typeface="Muli Bold"/>
                <a:ea typeface="Muli Bold"/>
                <a:cs typeface="Muli Bold"/>
                <a:sym typeface="Muli Bold"/>
              </a:rPr>
              <a:t>rình soạn thảo mã nguồn</a:t>
            </a:r>
            <a:r>
              <a:rPr lang="en-US" sz="3399">
                <a:solidFill>
                  <a:srgbClr val="000000"/>
                </a:solidFill>
                <a:latin typeface="Muli"/>
                <a:ea typeface="Muli"/>
                <a:cs typeface="Muli"/>
                <a:sym typeface="Muli"/>
              </a:rPr>
              <a:t> miễn phí, nhẹ, do Microsoft phát triển, hỗ trợ đa nền tảng ( Windows, macOS, Linux ).</a:t>
            </a:r>
          </a:p>
          <a:p>
            <a:pPr marL="734059" lvl="1" indent="-367030" algn="l">
              <a:lnSpc>
                <a:spcPts val="4759"/>
              </a:lnSpc>
              <a:buFont typeface="Arial"/>
              <a:buChar char="•"/>
            </a:pPr>
            <a:r>
              <a:rPr lang="en-US" sz="3399">
                <a:solidFill>
                  <a:srgbClr val="000000"/>
                </a:solidFill>
                <a:latin typeface="Muli"/>
                <a:ea typeface="Muli"/>
                <a:cs typeface="Muli"/>
                <a:sym typeface="Muli"/>
              </a:rPr>
              <a:t>VS Code được </a:t>
            </a:r>
            <a:r>
              <a:rPr lang="en-US" sz="3399" b="1">
                <a:solidFill>
                  <a:srgbClr val="000000"/>
                </a:solidFill>
                <a:latin typeface="Muli Bold"/>
                <a:ea typeface="Muli Bold"/>
                <a:cs typeface="Muli Bold"/>
                <a:sym typeface="Muli Bold"/>
              </a:rPr>
              <a:t>tích hợp</a:t>
            </a:r>
            <a:r>
              <a:rPr lang="en-US" sz="3399">
                <a:solidFill>
                  <a:srgbClr val="000000"/>
                </a:solidFill>
                <a:latin typeface="Muli"/>
                <a:ea typeface="Muli"/>
                <a:cs typeface="Muli"/>
                <a:sym typeface="Muli"/>
              </a:rPr>
              <a:t> IntelliSense, debug, Git, terminal, cùng với </a:t>
            </a:r>
            <a:r>
              <a:rPr lang="en-US" sz="3399" b="1">
                <a:solidFill>
                  <a:srgbClr val="000000"/>
                </a:solidFill>
                <a:latin typeface="Muli Bold"/>
                <a:ea typeface="Muli Bold"/>
                <a:cs typeface="Muli Bold"/>
                <a:sym typeface="Muli Bold"/>
              </a:rPr>
              <a:t>hàng nghìn extension</a:t>
            </a:r>
            <a:r>
              <a:rPr lang="en-US" sz="3399">
                <a:solidFill>
                  <a:srgbClr val="000000"/>
                </a:solidFill>
                <a:latin typeface="Muli"/>
                <a:ea typeface="Muli"/>
                <a:cs typeface="Muli"/>
                <a:sym typeface="Muli"/>
              </a:rPr>
              <a:t> giúp tùy chỉnh cho mọi ngôn ngữ lập trình.</a:t>
            </a:r>
          </a:p>
          <a:p>
            <a:pPr marL="734059" lvl="1" indent="-367030" algn="l">
              <a:lnSpc>
                <a:spcPts val="4759"/>
              </a:lnSpc>
              <a:spcBef>
                <a:spcPct val="0"/>
              </a:spcBef>
              <a:buFont typeface="Arial"/>
              <a:buChar char="•"/>
            </a:pPr>
            <a:r>
              <a:rPr lang="en-US" sz="3399">
                <a:solidFill>
                  <a:srgbClr val="000000"/>
                </a:solidFill>
                <a:latin typeface="Muli"/>
                <a:ea typeface="Muli"/>
                <a:cs typeface="Muli"/>
                <a:sym typeface="Muli"/>
              </a:rPr>
              <a:t>Ngoài ra, người dùng còn có thể sử dụng settings sync, Live Share để </a:t>
            </a:r>
            <a:r>
              <a:rPr lang="en-US" sz="3399" b="1">
                <a:solidFill>
                  <a:srgbClr val="000000"/>
                </a:solidFill>
                <a:latin typeface="Muli Bold"/>
                <a:ea typeface="Muli Bold"/>
                <a:cs typeface="Muli Bold"/>
                <a:sym typeface="Muli Bold"/>
              </a:rPr>
              <a:t>đồng bộ cấu hình</a:t>
            </a:r>
            <a:r>
              <a:rPr lang="en-US" sz="3399">
                <a:solidFill>
                  <a:srgbClr val="000000"/>
                </a:solidFill>
                <a:latin typeface="Muli"/>
                <a:ea typeface="Muli"/>
                <a:cs typeface="Muli"/>
                <a:sym typeface="Muli"/>
              </a:rPr>
              <a:t> và </a:t>
            </a:r>
            <a:r>
              <a:rPr lang="en-US" sz="3399" b="1">
                <a:solidFill>
                  <a:srgbClr val="000000"/>
                </a:solidFill>
                <a:latin typeface="Muli Bold"/>
                <a:ea typeface="Muli Bold"/>
                <a:cs typeface="Muli Bold"/>
                <a:sym typeface="Muli Bold"/>
              </a:rPr>
              <a:t>lập trình nhóm</a:t>
            </a:r>
            <a:r>
              <a:rPr lang="en-US" sz="3399">
                <a:solidFill>
                  <a:srgbClr val="000000"/>
                </a:solidFill>
                <a:latin typeface="Muli"/>
                <a:ea typeface="Muli"/>
                <a:cs typeface="Muli"/>
                <a:sym typeface="Muli"/>
              </a:rPr>
              <a:t> thời gian thực.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2491565" y="4434118"/>
            <a:ext cx="3539905" cy="3539905"/>
          </a:xfrm>
          <a:custGeom>
            <a:avLst/>
            <a:gdLst/>
            <a:ahLst/>
            <a:cxnLst/>
            <a:rect l="l" t="t" r="r" b="b"/>
            <a:pathLst>
              <a:path w="3539905" h="3539905">
                <a:moveTo>
                  <a:pt x="0" y="0"/>
                </a:moveTo>
                <a:lnTo>
                  <a:pt x="3539905" y="0"/>
                </a:lnTo>
                <a:lnTo>
                  <a:pt x="3539905" y="3539904"/>
                </a:lnTo>
                <a:lnTo>
                  <a:pt x="0" y="353990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1028700" y="2603826"/>
            <a:ext cx="3244372"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1.3. PHP</a:t>
            </a:r>
          </a:p>
        </p:txBody>
      </p:sp>
      <p:sp>
        <p:nvSpPr>
          <p:cNvPr id="7" name="TextBox 7"/>
          <p:cNvSpPr txBox="1"/>
          <p:nvPr/>
        </p:nvSpPr>
        <p:spPr>
          <a:xfrm>
            <a:off x="1028700" y="3751271"/>
            <a:ext cx="10278324" cy="6120660"/>
          </a:xfrm>
          <a:prstGeom prst="rect">
            <a:avLst/>
          </a:prstGeom>
        </p:spPr>
        <p:txBody>
          <a:bodyPr lIns="0" tIns="0" rIns="0" bIns="0" rtlCol="0" anchor="t">
            <a:spAutoFit/>
          </a:bodyPr>
          <a:lstStyle/>
          <a:p>
            <a:pPr marL="752567" lvl="1" indent="-376284" algn="l">
              <a:lnSpc>
                <a:spcPts val="4880"/>
              </a:lnSpc>
              <a:spcBef>
                <a:spcPct val="0"/>
              </a:spcBef>
              <a:buFont typeface="Arial"/>
              <a:buChar char="•"/>
            </a:pPr>
            <a:r>
              <a:rPr lang="en-US" sz="3485">
                <a:solidFill>
                  <a:srgbClr val="000000"/>
                </a:solidFill>
                <a:latin typeface="Muli"/>
                <a:ea typeface="Muli"/>
                <a:cs typeface="Muli"/>
                <a:sym typeface="Muli"/>
              </a:rPr>
              <a:t>PHP là </a:t>
            </a:r>
            <a:r>
              <a:rPr lang="en-US" sz="3485" b="1">
                <a:solidFill>
                  <a:srgbClr val="000000"/>
                </a:solidFill>
                <a:latin typeface="Muli Bold"/>
                <a:ea typeface="Muli Bold"/>
                <a:cs typeface="Muli Bold"/>
                <a:sym typeface="Muli Bold"/>
              </a:rPr>
              <a:t>ngôn ngữ kịch bản phía server</a:t>
            </a:r>
            <a:r>
              <a:rPr lang="en-US" sz="3485">
                <a:solidFill>
                  <a:srgbClr val="000000"/>
                </a:solidFill>
                <a:latin typeface="Muli"/>
                <a:ea typeface="Muli"/>
                <a:cs typeface="Muli"/>
                <a:sym typeface="Muli"/>
              </a:rPr>
              <a:t> mã nguồn mở, được thiết kế chủ yếu để </a:t>
            </a:r>
            <a:r>
              <a:rPr lang="en-US" sz="3485" b="1">
                <a:solidFill>
                  <a:srgbClr val="000000"/>
                </a:solidFill>
                <a:latin typeface="Muli Bold"/>
                <a:ea typeface="Muli Bold"/>
                <a:cs typeface="Muli Bold"/>
                <a:sym typeface="Muli Bold"/>
              </a:rPr>
              <a:t>phát triển web động</a:t>
            </a:r>
            <a:r>
              <a:rPr lang="en-US" sz="3485">
                <a:solidFill>
                  <a:srgbClr val="000000"/>
                </a:solidFill>
                <a:latin typeface="Muli"/>
                <a:ea typeface="Muli"/>
                <a:cs typeface="Muli"/>
                <a:sym typeface="Muli"/>
              </a:rPr>
              <a:t> và nhúng trực tiếp vào HTML.</a:t>
            </a:r>
          </a:p>
          <a:p>
            <a:pPr marL="752567" lvl="1" indent="-376284" algn="l">
              <a:lnSpc>
                <a:spcPts val="4880"/>
              </a:lnSpc>
              <a:spcBef>
                <a:spcPct val="0"/>
              </a:spcBef>
              <a:buFont typeface="Arial"/>
              <a:buChar char="•"/>
            </a:pPr>
            <a:r>
              <a:rPr lang="en-US" sz="3485">
                <a:solidFill>
                  <a:srgbClr val="000000"/>
                </a:solidFill>
                <a:latin typeface="Muli"/>
                <a:ea typeface="Muli"/>
                <a:cs typeface="Muli"/>
                <a:sym typeface="Muli"/>
              </a:rPr>
              <a:t>PHP có thể chạy trên nhiều nền tảng ( Linux, Windows,... ), dễ dàng </a:t>
            </a:r>
            <a:r>
              <a:rPr lang="en-US" sz="3485" b="1">
                <a:solidFill>
                  <a:srgbClr val="000000"/>
                </a:solidFill>
                <a:latin typeface="Muli Bold"/>
                <a:ea typeface="Muli Bold"/>
                <a:cs typeface="Muli Bold"/>
                <a:sym typeface="Muli Bold"/>
              </a:rPr>
              <a:t>tích hợp với MySQL, Apache</a:t>
            </a:r>
            <a:r>
              <a:rPr lang="en-US" sz="3485">
                <a:solidFill>
                  <a:srgbClr val="000000"/>
                </a:solidFill>
                <a:latin typeface="Muli"/>
                <a:ea typeface="Muli"/>
                <a:cs typeface="Muli"/>
                <a:sym typeface="Muli"/>
              </a:rPr>
              <a:t>, </a:t>
            </a:r>
            <a:r>
              <a:rPr lang="en-US" sz="3485" b="1">
                <a:solidFill>
                  <a:srgbClr val="000000"/>
                </a:solidFill>
                <a:latin typeface="Muli Bold"/>
                <a:ea typeface="Muli Bold"/>
                <a:cs typeface="Muli Bold"/>
                <a:sym typeface="Muli Bold"/>
              </a:rPr>
              <a:t>hỗ trợ OOP, framework</a:t>
            </a:r>
            <a:r>
              <a:rPr lang="en-US" sz="3485">
                <a:solidFill>
                  <a:srgbClr val="000000"/>
                </a:solidFill>
                <a:latin typeface="Muli"/>
                <a:ea typeface="Muli"/>
                <a:cs typeface="Muli"/>
                <a:sym typeface="Muli"/>
              </a:rPr>
              <a:t> như Laravel, WordPress.</a:t>
            </a:r>
          </a:p>
          <a:p>
            <a:pPr marL="752567" lvl="1" indent="-376284" algn="l">
              <a:lnSpc>
                <a:spcPts val="4880"/>
              </a:lnSpc>
              <a:spcBef>
                <a:spcPct val="0"/>
              </a:spcBef>
              <a:buFont typeface="Arial"/>
              <a:buChar char="•"/>
            </a:pPr>
            <a:r>
              <a:rPr lang="en-US" sz="3485">
                <a:solidFill>
                  <a:srgbClr val="000000"/>
                </a:solidFill>
                <a:latin typeface="Muli"/>
                <a:ea typeface="Muli"/>
                <a:cs typeface="Muli"/>
                <a:sym typeface="Muli"/>
              </a:rPr>
              <a:t>Ngoài ra, PHP còn có thể </a:t>
            </a:r>
            <a:r>
              <a:rPr lang="en-US" sz="3485" b="1">
                <a:solidFill>
                  <a:srgbClr val="000000"/>
                </a:solidFill>
                <a:latin typeface="Muli Bold"/>
                <a:ea typeface="Muli Bold"/>
                <a:cs typeface="Muli Bold"/>
                <a:sym typeface="Muli Bold"/>
              </a:rPr>
              <a:t>xử lý</a:t>
            </a:r>
            <a:r>
              <a:rPr lang="en-US" sz="3485">
                <a:solidFill>
                  <a:srgbClr val="000000"/>
                </a:solidFill>
                <a:latin typeface="Muli"/>
                <a:ea typeface="Muli"/>
                <a:cs typeface="Muli"/>
                <a:sym typeface="Muli"/>
              </a:rPr>
              <a:t> form, session, cookie, </a:t>
            </a:r>
            <a:r>
              <a:rPr lang="en-US" sz="3485" b="1">
                <a:solidFill>
                  <a:srgbClr val="000000"/>
                </a:solidFill>
                <a:latin typeface="Muli Bold"/>
                <a:ea typeface="Muli Bold"/>
                <a:cs typeface="Muli Bold"/>
                <a:sym typeface="Muli Bold"/>
              </a:rPr>
              <a:t>tạo nội dung động,</a:t>
            </a:r>
            <a:r>
              <a:rPr lang="en-US" sz="3485">
                <a:solidFill>
                  <a:srgbClr val="000000"/>
                </a:solidFill>
                <a:latin typeface="Muli"/>
                <a:ea typeface="Muli"/>
                <a:cs typeface="Muli"/>
                <a:sym typeface="Muli"/>
              </a:rPr>
              <a:t> phổ biến cho CMS, e-commerce, backend API.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1850594" y="4518644"/>
            <a:ext cx="4853085" cy="3233368"/>
          </a:xfrm>
          <a:custGeom>
            <a:avLst/>
            <a:gdLst/>
            <a:ahLst/>
            <a:cxnLst/>
            <a:rect l="l" t="t" r="r" b="b"/>
            <a:pathLst>
              <a:path w="4853085" h="3233368">
                <a:moveTo>
                  <a:pt x="0" y="0"/>
                </a:moveTo>
                <a:lnTo>
                  <a:pt x="4853084" y="0"/>
                </a:lnTo>
                <a:lnTo>
                  <a:pt x="4853084" y="3233367"/>
                </a:lnTo>
                <a:lnTo>
                  <a:pt x="0" y="3233367"/>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1028700" y="2603826"/>
            <a:ext cx="3948548"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1.4. MySQL</a:t>
            </a:r>
          </a:p>
        </p:txBody>
      </p:sp>
      <p:sp>
        <p:nvSpPr>
          <p:cNvPr id="7" name="TextBox 7"/>
          <p:cNvSpPr txBox="1"/>
          <p:nvPr/>
        </p:nvSpPr>
        <p:spPr>
          <a:xfrm>
            <a:off x="1028700" y="3886835"/>
            <a:ext cx="9443839" cy="5371465"/>
          </a:xfrm>
          <a:prstGeom prst="rect">
            <a:avLst/>
          </a:prstGeom>
        </p:spPr>
        <p:txBody>
          <a:bodyPr lIns="0" tIns="0" rIns="0" bIns="0" rtlCol="0" anchor="t">
            <a:spAutoFit/>
          </a:bodyPr>
          <a:lstStyle/>
          <a:p>
            <a:pPr marL="734059" lvl="1" indent="-367030" algn="l">
              <a:lnSpc>
                <a:spcPts val="4759"/>
              </a:lnSpc>
              <a:spcBef>
                <a:spcPct val="0"/>
              </a:spcBef>
              <a:buFont typeface="Arial"/>
              <a:buChar char="•"/>
            </a:pPr>
            <a:r>
              <a:rPr lang="en-US" sz="3399">
                <a:solidFill>
                  <a:srgbClr val="000000"/>
                </a:solidFill>
                <a:latin typeface="Muli"/>
                <a:ea typeface="Muli"/>
                <a:cs typeface="Muli"/>
                <a:sym typeface="Muli"/>
              </a:rPr>
              <a:t>MySQL là </a:t>
            </a:r>
            <a:r>
              <a:rPr lang="en-US" sz="3399" b="1">
                <a:solidFill>
                  <a:srgbClr val="000000"/>
                </a:solidFill>
                <a:latin typeface="Muli Bold"/>
                <a:ea typeface="Muli Bold"/>
                <a:cs typeface="Muli Bold"/>
                <a:sym typeface="Muli Bold"/>
              </a:rPr>
              <a:t>hệ quản trị cơ sở dữ liệu quan hệ</a:t>
            </a:r>
            <a:r>
              <a:rPr lang="en-US" sz="3399">
                <a:solidFill>
                  <a:srgbClr val="000000"/>
                </a:solidFill>
                <a:latin typeface="Muli"/>
                <a:ea typeface="Muli"/>
                <a:cs typeface="Muli"/>
                <a:sym typeface="Muli"/>
              </a:rPr>
              <a:t> ( RDBMS ) mã nguồn mở, dùng SQL để quản lý dữ liệu dạng bảng có quan hệ.</a:t>
            </a:r>
          </a:p>
          <a:p>
            <a:pPr marL="734059" lvl="1" indent="-367030" algn="l">
              <a:lnSpc>
                <a:spcPts val="4759"/>
              </a:lnSpc>
              <a:spcBef>
                <a:spcPct val="0"/>
              </a:spcBef>
              <a:buFont typeface="Arial"/>
              <a:buChar char="•"/>
            </a:pPr>
            <a:r>
              <a:rPr lang="en-US" sz="3399">
                <a:solidFill>
                  <a:srgbClr val="000000"/>
                </a:solidFill>
                <a:latin typeface="Muli"/>
                <a:ea typeface="Muli"/>
                <a:cs typeface="Muli"/>
                <a:sym typeface="Muli"/>
              </a:rPr>
              <a:t>MySQL có thể </a:t>
            </a:r>
            <a:r>
              <a:rPr lang="en-US" sz="3399" b="1">
                <a:solidFill>
                  <a:srgbClr val="000000"/>
                </a:solidFill>
                <a:latin typeface="Muli Bold"/>
                <a:ea typeface="Muli Bold"/>
                <a:cs typeface="Muli Bold"/>
                <a:sym typeface="Muli Bold"/>
              </a:rPr>
              <a:t>hỗ trợ đa nền tảng</a:t>
            </a:r>
            <a:r>
              <a:rPr lang="en-US" sz="3399">
                <a:solidFill>
                  <a:srgbClr val="000000"/>
                </a:solidFill>
                <a:latin typeface="Muli"/>
                <a:ea typeface="Muli"/>
                <a:cs typeface="Muli"/>
                <a:sym typeface="Muli"/>
              </a:rPr>
              <a:t>, tốc độ cao, ổn định, phổ biến trong web ( LAMP ), tích hợp tốt với PHP, Python, Node.js.</a:t>
            </a:r>
          </a:p>
          <a:p>
            <a:pPr marL="734059" lvl="1" indent="-367030" algn="l">
              <a:lnSpc>
                <a:spcPts val="4759"/>
              </a:lnSpc>
              <a:spcBef>
                <a:spcPct val="0"/>
              </a:spcBef>
              <a:buFont typeface="Arial"/>
              <a:buChar char="•"/>
            </a:pPr>
            <a:r>
              <a:rPr lang="en-US" sz="3399">
                <a:solidFill>
                  <a:srgbClr val="000000"/>
                </a:solidFill>
                <a:latin typeface="Muli"/>
                <a:ea typeface="Muli"/>
                <a:cs typeface="Muli"/>
                <a:sym typeface="Muli"/>
              </a:rPr>
              <a:t>Có phiên bản Community và Enterprise, dùng cho CMS, e-commerce, ứng dụng cần lưu trữ có cấu trúc.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1904405" y="4560198"/>
            <a:ext cx="4902636" cy="3266381"/>
          </a:xfrm>
          <a:custGeom>
            <a:avLst/>
            <a:gdLst/>
            <a:ahLst/>
            <a:cxnLst/>
            <a:rect l="l" t="t" r="r" b="b"/>
            <a:pathLst>
              <a:path w="4902636" h="3266381">
                <a:moveTo>
                  <a:pt x="0" y="0"/>
                </a:moveTo>
                <a:lnTo>
                  <a:pt x="4902636" y="0"/>
                </a:lnTo>
                <a:lnTo>
                  <a:pt x="4902636" y="3266381"/>
                </a:lnTo>
                <a:lnTo>
                  <a:pt x="0" y="3266381"/>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1028700" y="2603826"/>
            <a:ext cx="4254711"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1.5. Cloudflare</a:t>
            </a:r>
          </a:p>
        </p:txBody>
      </p:sp>
      <p:sp>
        <p:nvSpPr>
          <p:cNvPr id="7" name="TextBox 7"/>
          <p:cNvSpPr txBox="1"/>
          <p:nvPr/>
        </p:nvSpPr>
        <p:spPr>
          <a:xfrm>
            <a:off x="1028700" y="3751271"/>
            <a:ext cx="9443839" cy="5783580"/>
          </a:xfrm>
          <a:prstGeom prst="rect">
            <a:avLst/>
          </a:prstGeom>
        </p:spPr>
        <p:txBody>
          <a:bodyPr lIns="0" tIns="0" rIns="0" bIns="0" rtlCol="0" anchor="t">
            <a:spAutoFit/>
          </a:bodyPr>
          <a:lstStyle/>
          <a:p>
            <a:pPr marL="712470" lvl="1" indent="-356235" algn="l">
              <a:lnSpc>
                <a:spcPts val="4620"/>
              </a:lnSpc>
              <a:spcBef>
                <a:spcPct val="0"/>
              </a:spcBef>
              <a:buFont typeface="Arial"/>
              <a:buChar char="•"/>
            </a:pPr>
            <a:r>
              <a:rPr lang="en-US" sz="3300">
                <a:solidFill>
                  <a:srgbClr val="000000"/>
                </a:solidFill>
                <a:latin typeface="Muli"/>
                <a:ea typeface="Muli"/>
                <a:cs typeface="Muli"/>
                <a:sym typeface="Muli"/>
              </a:rPr>
              <a:t>Cloudflare là nền tảng dịch vụ đám mây toàn cầu, cung cấp CDN ( Content Delivery Network ), giúp bảo mật website và tối ưu hiệu suất internet. Hiện tại, Cloudflare phục vụ hơn 20% website toàn cầu.</a:t>
            </a:r>
          </a:p>
          <a:p>
            <a:pPr marL="712470" lvl="1" indent="-356235" algn="l">
              <a:lnSpc>
                <a:spcPts val="4620"/>
              </a:lnSpc>
              <a:spcBef>
                <a:spcPct val="0"/>
              </a:spcBef>
              <a:buFont typeface="Arial"/>
              <a:buChar char="•"/>
            </a:pPr>
            <a:r>
              <a:rPr lang="en-US" sz="3300">
                <a:solidFill>
                  <a:srgbClr val="000000"/>
                </a:solidFill>
                <a:latin typeface="Muli"/>
                <a:ea typeface="Muli"/>
                <a:cs typeface="Muli"/>
                <a:sym typeface="Muli"/>
              </a:rPr>
              <a:t>Cloudflare giúp tăng tốc tải trang bằng cách lưu cache nội dung tại hơn 300 trung tâm lưu trữ dữ liệu trên thế giới, tự động chặn tấn công DDoS, bot độc hại và các lỗ hổng web phổ biến như SQL injection, XSS,...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1677615" y="4320816"/>
            <a:ext cx="5520828" cy="3482369"/>
          </a:xfrm>
          <a:custGeom>
            <a:avLst/>
            <a:gdLst/>
            <a:ahLst/>
            <a:cxnLst/>
            <a:rect l="l" t="t" r="r" b="b"/>
            <a:pathLst>
              <a:path w="5520828" h="3482369">
                <a:moveTo>
                  <a:pt x="0" y="0"/>
                </a:moveTo>
                <a:lnTo>
                  <a:pt x="5520829" y="0"/>
                </a:lnTo>
                <a:lnTo>
                  <a:pt x="5520829" y="3482369"/>
                </a:lnTo>
                <a:lnTo>
                  <a:pt x="0" y="3482369"/>
                </a:lnTo>
                <a:lnTo>
                  <a:pt x="0" y="0"/>
                </a:lnTo>
                <a:close/>
              </a:path>
            </a:pathLst>
          </a:custGeom>
          <a:blipFill>
            <a:blip r:embed="rId3"/>
            <a:stretch>
              <a:fillRect/>
            </a:stretch>
          </a:blipFill>
          <a:ln w="38100" cap="sq">
            <a:solidFill>
              <a:srgbClr val="000000"/>
            </a:solidFill>
            <a:prstDash val="solid"/>
            <a:miter/>
          </a:ln>
        </p:spPr>
        <p:txBody>
          <a:bodyPr/>
          <a:lstStyle/>
          <a:p>
            <a:endParaRPr lang="vi-VN"/>
          </a:p>
        </p:txBody>
      </p:sp>
      <p:sp>
        <p:nvSpPr>
          <p:cNvPr id="5" name="TextBox 5"/>
          <p:cNvSpPr txBox="1"/>
          <p:nvPr/>
        </p:nvSpPr>
        <p:spPr>
          <a:xfrm>
            <a:off x="639371" y="1466823"/>
            <a:ext cx="5567009" cy="811530"/>
          </a:xfrm>
          <a:prstGeom prst="rect">
            <a:avLst/>
          </a:prstGeom>
        </p:spPr>
        <p:txBody>
          <a:bodyPr lIns="0" tIns="0" rIns="0" bIns="0" rtlCol="0" anchor="t">
            <a:spAutoFit/>
          </a:bodyPr>
          <a:lstStyle/>
          <a:p>
            <a:pPr algn="ctr">
              <a:lnSpc>
                <a:spcPts val="6719"/>
              </a:lnSpc>
            </a:pPr>
            <a:r>
              <a:rPr lang="en-US" sz="4800" b="1">
                <a:solidFill>
                  <a:srgbClr val="000000"/>
                </a:solidFill>
                <a:latin typeface="Muli Bold"/>
                <a:ea typeface="Muli Bold"/>
                <a:cs typeface="Muli Bold"/>
                <a:sym typeface="Muli Bold"/>
              </a:rPr>
              <a:t>1. Công cụ sử dụng</a:t>
            </a:r>
          </a:p>
        </p:txBody>
      </p:sp>
      <p:sp>
        <p:nvSpPr>
          <p:cNvPr id="6" name="TextBox 6"/>
          <p:cNvSpPr txBox="1"/>
          <p:nvPr/>
        </p:nvSpPr>
        <p:spPr>
          <a:xfrm>
            <a:off x="1028700" y="2603826"/>
            <a:ext cx="4254711" cy="795020"/>
          </a:xfrm>
          <a:prstGeom prst="rect">
            <a:avLst/>
          </a:prstGeom>
        </p:spPr>
        <p:txBody>
          <a:bodyPr lIns="0" tIns="0" rIns="0" bIns="0" rtlCol="0" anchor="t">
            <a:spAutoFit/>
          </a:bodyPr>
          <a:lstStyle/>
          <a:p>
            <a:pPr algn="ctr">
              <a:lnSpc>
                <a:spcPts val="6580"/>
              </a:lnSpc>
              <a:spcBef>
                <a:spcPct val="0"/>
              </a:spcBef>
            </a:pPr>
            <a:r>
              <a:rPr lang="en-US" sz="4700" b="1">
                <a:solidFill>
                  <a:srgbClr val="000000"/>
                </a:solidFill>
                <a:latin typeface="Muli Bold"/>
                <a:ea typeface="Muli Bold"/>
                <a:cs typeface="Muli Bold"/>
                <a:sym typeface="Muli Bold"/>
              </a:rPr>
              <a:t>1.6. Cron job</a:t>
            </a:r>
          </a:p>
        </p:txBody>
      </p:sp>
      <p:sp>
        <p:nvSpPr>
          <p:cNvPr id="7" name="TextBox 7"/>
          <p:cNvSpPr txBox="1"/>
          <p:nvPr/>
        </p:nvSpPr>
        <p:spPr>
          <a:xfrm>
            <a:off x="1028700" y="3751271"/>
            <a:ext cx="9443839" cy="5950585"/>
          </a:xfrm>
          <a:prstGeom prst="rect">
            <a:avLst/>
          </a:prstGeom>
        </p:spPr>
        <p:txBody>
          <a:bodyPr lIns="0" tIns="0" rIns="0" bIns="0" rtlCol="0" anchor="t">
            <a:spAutoFit/>
          </a:bodyPr>
          <a:lstStyle/>
          <a:p>
            <a:pPr marL="669291" lvl="1" indent="-334646" algn="l">
              <a:lnSpc>
                <a:spcPts val="4340"/>
              </a:lnSpc>
              <a:spcBef>
                <a:spcPct val="0"/>
              </a:spcBef>
              <a:buFont typeface="Arial"/>
              <a:buChar char="•"/>
            </a:pPr>
            <a:r>
              <a:rPr lang="en-US" sz="3100">
                <a:solidFill>
                  <a:srgbClr val="000000"/>
                </a:solidFill>
                <a:latin typeface="Muli"/>
                <a:ea typeface="Muli"/>
                <a:cs typeface="Muli"/>
                <a:sym typeface="Muli"/>
              </a:rPr>
              <a:t>Cron job là công cụ lập lịch tự động thực thi các tác vụ (script, lệnh) trên server theo thời gian định sẵn. Đây là tính năng có sẵn trên hầu hết các hệ điều hành Linux/Unix và hosting. </a:t>
            </a:r>
          </a:p>
          <a:p>
            <a:pPr marL="669291" lvl="1" indent="-334646" algn="l">
              <a:lnSpc>
                <a:spcPts val="4340"/>
              </a:lnSpc>
              <a:spcBef>
                <a:spcPct val="0"/>
              </a:spcBef>
              <a:buFont typeface="Arial"/>
              <a:buChar char="•"/>
            </a:pPr>
            <a:r>
              <a:rPr lang="en-US" sz="3100">
                <a:solidFill>
                  <a:srgbClr val="000000"/>
                </a:solidFill>
                <a:latin typeface="Muli"/>
                <a:ea typeface="Muli"/>
                <a:cs typeface="Muli"/>
                <a:sym typeface="Muli"/>
              </a:rPr>
              <a:t>Cron job thường dùng để tự động cập nhật cơ sở dữ liệu, đồng thời hỗ trợ đồng bộ và backup database. </a:t>
            </a:r>
          </a:p>
          <a:p>
            <a:pPr marL="669291" lvl="1" indent="-334646" algn="l">
              <a:lnSpc>
                <a:spcPts val="4340"/>
              </a:lnSpc>
              <a:spcBef>
                <a:spcPct val="0"/>
              </a:spcBef>
              <a:buFont typeface="Arial"/>
              <a:buChar char="•"/>
            </a:pPr>
            <a:r>
              <a:rPr lang="en-US" sz="3100">
                <a:solidFill>
                  <a:srgbClr val="000000"/>
                </a:solidFill>
                <a:latin typeface="Muli"/>
                <a:ea typeface="Muli"/>
                <a:cs typeface="Muli"/>
                <a:sym typeface="Muli"/>
              </a:rPr>
              <a:t>Sau khi định nghĩa thời gian chạy tại file crontab, hệ thống cron daemon sẽ tự động chạy đúng giờ mà không cần can thiệp thủ công, giúp website vận hành ổn định một cách tự động.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6524676" y="3072501"/>
            <a:ext cx="5085567" cy="6356958"/>
          </a:xfrm>
          <a:custGeom>
            <a:avLst/>
            <a:gdLst/>
            <a:ahLst/>
            <a:cxnLst/>
            <a:rect l="l" t="t" r="r" b="b"/>
            <a:pathLst>
              <a:path w="5085567" h="6356958">
                <a:moveTo>
                  <a:pt x="0" y="0"/>
                </a:moveTo>
                <a:lnTo>
                  <a:pt x="5085566" y="0"/>
                </a:lnTo>
                <a:lnTo>
                  <a:pt x="5085566" y="6356959"/>
                </a:lnTo>
                <a:lnTo>
                  <a:pt x="0" y="6356959"/>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504311" y="1457298"/>
            <a:ext cx="7890168"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2. Xây dựng cơ sở dữ liệu </a:t>
            </a:r>
          </a:p>
        </p:txBody>
      </p:sp>
      <p:sp>
        <p:nvSpPr>
          <p:cNvPr id="6" name="TextBox 6"/>
          <p:cNvSpPr txBox="1"/>
          <p:nvPr/>
        </p:nvSpPr>
        <p:spPr>
          <a:xfrm>
            <a:off x="1226760" y="2413696"/>
            <a:ext cx="5923122" cy="752816"/>
          </a:xfrm>
          <a:prstGeom prst="rect">
            <a:avLst/>
          </a:prstGeom>
        </p:spPr>
        <p:txBody>
          <a:bodyPr lIns="0" tIns="0" rIns="0" bIns="0" rtlCol="0" anchor="t">
            <a:spAutoFit/>
          </a:bodyPr>
          <a:lstStyle/>
          <a:p>
            <a:pPr algn="ctr">
              <a:lnSpc>
                <a:spcPts val="6281"/>
              </a:lnSpc>
              <a:spcBef>
                <a:spcPct val="0"/>
              </a:spcBef>
            </a:pPr>
            <a:r>
              <a:rPr lang="en-US" sz="4486" b="1">
                <a:solidFill>
                  <a:srgbClr val="000000"/>
                </a:solidFill>
                <a:latin typeface="Muli Bold"/>
                <a:ea typeface="Muli Bold"/>
                <a:cs typeface="Muli Bold"/>
                <a:sym typeface="Muli Bold"/>
              </a:rPr>
              <a:t>Chức năng của admin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6255674" y="2699813"/>
            <a:ext cx="5562338" cy="6356958"/>
          </a:xfrm>
          <a:custGeom>
            <a:avLst/>
            <a:gdLst/>
            <a:ahLst/>
            <a:cxnLst/>
            <a:rect l="l" t="t" r="r" b="b"/>
            <a:pathLst>
              <a:path w="5562338" h="6356958">
                <a:moveTo>
                  <a:pt x="0" y="0"/>
                </a:moveTo>
                <a:lnTo>
                  <a:pt x="5562338" y="0"/>
                </a:lnTo>
                <a:lnTo>
                  <a:pt x="5562338" y="6356958"/>
                </a:lnTo>
                <a:lnTo>
                  <a:pt x="0" y="6356958"/>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29846" y="1457298"/>
            <a:ext cx="748498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2. Xây dựng cơ sở dữ liệu </a:t>
            </a:r>
          </a:p>
        </p:txBody>
      </p:sp>
      <p:sp>
        <p:nvSpPr>
          <p:cNvPr id="6" name="TextBox 6"/>
          <p:cNvSpPr txBox="1"/>
          <p:nvPr/>
        </p:nvSpPr>
        <p:spPr>
          <a:xfrm>
            <a:off x="1412514" y="2285305"/>
            <a:ext cx="5455920" cy="752816"/>
          </a:xfrm>
          <a:prstGeom prst="rect">
            <a:avLst/>
          </a:prstGeom>
        </p:spPr>
        <p:txBody>
          <a:bodyPr lIns="0" tIns="0" rIns="0" bIns="0" rtlCol="0" anchor="t">
            <a:spAutoFit/>
          </a:bodyPr>
          <a:lstStyle/>
          <a:p>
            <a:pPr algn="ctr">
              <a:lnSpc>
                <a:spcPts val="6281"/>
              </a:lnSpc>
              <a:spcBef>
                <a:spcPct val="0"/>
              </a:spcBef>
            </a:pPr>
            <a:r>
              <a:rPr lang="en-US" sz="4486" b="1">
                <a:solidFill>
                  <a:srgbClr val="000000"/>
                </a:solidFill>
                <a:latin typeface="Muli Bold"/>
                <a:ea typeface="Muli Bold"/>
                <a:cs typeface="Muli Bold"/>
                <a:sym typeface="Muli Bold"/>
              </a:rPr>
              <a:t>Chức năng của User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TextBox 4"/>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5" name="TextBox 5"/>
          <p:cNvSpPr txBox="1"/>
          <p:nvPr/>
        </p:nvSpPr>
        <p:spPr>
          <a:xfrm>
            <a:off x="566889" y="3009132"/>
            <a:ext cx="15655180" cy="6647180"/>
          </a:xfrm>
          <a:prstGeom prst="rect">
            <a:avLst/>
          </a:prstGeom>
        </p:spPr>
        <p:txBody>
          <a:bodyPr lIns="0" tIns="0" rIns="0" bIns="0" rtlCol="0" anchor="t">
            <a:spAutoFit/>
          </a:bodyPr>
          <a:lstStyle/>
          <a:p>
            <a:pPr algn="l">
              <a:lnSpc>
                <a:spcPts val="5320"/>
              </a:lnSpc>
            </a:pPr>
            <a:r>
              <a:rPr lang="en-US" sz="3800" b="1">
                <a:solidFill>
                  <a:srgbClr val="000000"/>
                </a:solidFill>
                <a:latin typeface="Muli Bold"/>
                <a:ea typeface="Muli Bold"/>
                <a:cs typeface="Muli Bold"/>
                <a:sym typeface="Muli Bold"/>
              </a:rPr>
              <a:t>   Các thành phần được đóng gói thành container:</a:t>
            </a:r>
          </a:p>
          <a:p>
            <a:pPr marL="820421" lvl="1" indent="-410210" algn="l">
              <a:lnSpc>
                <a:spcPts val="5320"/>
              </a:lnSpc>
              <a:buAutoNum type="arabicPeriod"/>
            </a:pPr>
            <a:r>
              <a:rPr lang="en-US" sz="3800">
                <a:solidFill>
                  <a:srgbClr val="000000"/>
                </a:solidFill>
                <a:latin typeface="Muli"/>
                <a:ea typeface="Muli"/>
                <a:cs typeface="Muli"/>
                <a:sym typeface="Muli"/>
              </a:rPr>
              <a:t>laravel - app</a:t>
            </a:r>
          </a:p>
          <a:p>
            <a:pPr marL="820421" lvl="1" indent="-410210" algn="l">
              <a:lnSpc>
                <a:spcPts val="5320"/>
              </a:lnSpc>
              <a:buFont typeface="Arial"/>
              <a:buChar char="•"/>
            </a:pPr>
            <a:r>
              <a:rPr lang="en-US" sz="3800">
                <a:solidFill>
                  <a:srgbClr val="000000"/>
                </a:solidFill>
                <a:latin typeface="Muli"/>
                <a:ea typeface="Muli"/>
                <a:cs typeface="Muli"/>
                <a:sym typeface="Muli"/>
              </a:rPr>
              <a:t>Bao gồm: PHP-FPM, các thư viện,... và được map cổng 8000:80</a:t>
            </a:r>
          </a:p>
          <a:p>
            <a:pPr marL="820421" lvl="1" indent="-410210" algn="l">
              <a:lnSpc>
                <a:spcPts val="5320"/>
              </a:lnSpc>
              <a:buAutoNum type="arabicPeriod"/>
            </a:pPr>
            <a:r>
              <a:rPr lang="en-US" sz="3800">
                <a:solidFill>
                  <a:srgbClr val="000000"/>
                </a:solidFill>
                <a:latin typeface="Muli"/>
                <a:ea typeface="Muli"/>
                <a:cs typeface="Muli"/>
                <a:sym typeface="Muli"/>
              </a:rPr>
              <a:t> redis</a:t>
            </a:r>
          </a:p>
          <a:p>
            <a:pPr marL="820421" lvl="1" indent="-410210" algn="l">
              <a:lnSpc>
                <a:spcPts val="5320"/>
              </a:lnSpc>
              <a:buFont typeface="Arial"/>
              <a:buChar char="•"/>
            </a:pPr>
            <a:r>
              <a:rPr lang="en-US" sz="3800">
                <a:solidFill>
                  <a:srgbClr val="000000"/>
                </a:solidFill>
                <a:latin typeface="Muli"/>
                <a:ea typeface="Muli"/>
                <a:cs typeface="Muli"/>
                <a:sym typeface="Muli"/>
              </a:rPr>
              <a:t>Chạy hệ thống lưu trữ dữ liệu trong bộ nhớ</a:t>
            </a:r>
          </a:p>
          <a:p>
            <a:pPr marL="820421" lvl="1" indent="-410210" algn="l">
              <a:lnSpc>
                <a:spcPts val="5320"/>
              </a:lnSpc>
              <a:buFont typeface="Arial"/>
              <a:buChar char="•"/>
            </a:pPr>
            <a:r>
              <a:rPr lang="en-US" sz="3800">
                <a:solidFill>
                  <a:srgbClr val="000000"/>
                </a:solidFill>
                <a:latin typeface="Muli"/>
                <a:ea typeface="Muli"/>
                <a:cs typeface="Muli"/>
                <a:sym typeface="Muli"/>
              </a:rPr>
              <a:t>Sử dụng cổng 6379:6379</a:t>
            </a:r>
          </a:p>
          <a:p>
            <a:pPr marL="820421" lvl="1" indent="-410210" algn="l">
              <a:lnSpc>
                <a:spcPts val="5320"/>
              </a:lnSpc>
              <a:buAutoNum type="arabicPeriod"/>
            </a:pPr>
            <a:r>
              <a:rPr lang="en-US" sz="3800">
                <a:solidFill>
                  <a:srgbClr val="000000"/>
                </a:solidFill>
                <a:latin typeface="Muli"/>
                <a:ea typeface="Muli"/>
                <a:cs typeface="Muli"/>
                <a:sym typeface="Muli"/>
              </a:rPr>
              <a:t> mysql</a:t>
            </a:r>
          </a:p>
          <a:p>
            <a:pPr marL="820421" lvl="1" indent="-410210" algn="l">
              <a:lnSpc>
                <a:spcPts val="5320"/>
              </a:lnSpc>
              <a:buFont typeface="Arial"/>
              <a:buChar char="•"/>
            </a:pPr>
            <a:r>
              <a:rPr lang="en-US" sz="3800">
                <a:solidFill>
                  <a:srgbClr val="000000"/>
                </a:solidFill>
                <a:latin typeface="Muli"/>
                <a:ea typeface="Muli"/>
                <a:cs typeface="Muli"/>
                <a:sym typeface="Muli"/>
              </a:rPr>
              <a:t>Dùng để chạy hệ quản trị cơ sở dữ liệu</a:t>
            </a:r>
          </a:p>
          <a:p>
            <a:pPr marL="820421" lvl="1" indent="-410210" algn="l">
              <a:lnSpc>
                <a:spcPts val="5320"/>
              </a:lnSpc>
              <a:buFont typeface="Arial"/>
              <a:buChar char="•"/>
            </a:pPr>
            <a:r>
              <a:rPr lang="en-US" sz="3800">
                <a:solidFill>
                  <a:srgbClr val="000000"/>
                </a:solidFill>
                <a:latin typeface="Muli"/>
                <a:ea typeface="Muli"/>
                <a:cs typeface="Muli"/>
                <a:sym typeface="Muli"/>
              </a:rPr>
              <a:t>Sử dụng cổng 3308:3306</a:t>
            </a:r>
          </a:p>
          <a:p>
            <a:pPr algn="ctr">
              <a:lnSpc>
                <a:spcPts val="5320"/>
              </a:lnSpc>
            </a:pPr>
            <a:endParaRPr lang="en-US" sz="3800">
              <a:solidFill>
                <a:srgbClr val="000000"/>
              </a:solidFill>
              <a:latin typeface="Muli"/>
              <a:ea typeface="Muli"/>
              <a:cs typeface="Muli"/>
              <a:sym typeface="Mul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TextBox 4"/>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5" name="TextBox 5"/>
          <p:cNvSpPr txBox="1"/>
          <p:nvPr/>
        </p:nvSpPr>
        <p:spPr>
          <a:xfrm>
            <a:off x="566889" y="3024179"/>
            <a:ext cx="15655180" cy="5980430"/>
          </a:xfrm>
          <a:prstGeom prst="rect">
            <a:avLst/>
          </a:prstGeom>
        </p:spPr>
        <p:txBody>
          <a:bodyPr lIns="0" tIns="0" rIns="0" bIns="0" rtlCol="0" anchor="t">
            <a:spAutoFit/>
          </a:bodyPr>
          <a:lstStyle/>
          <a:p>
            <a:pPr algn="l">
              <a:lnSpc>
                <a:spcPts val="5320"/>
              </a:lnSpc>
            </a:pPr>
            <a:r>
              <a:rPr lang="en-US" sz="3800" b="1">
                <a:solidFill>
                  <a:srgbClr val="000000"/>
                </a:solidFill>
                <a:latin typeface="Muli Bold"/>
                <a:ea typeface="Muli Bold"/>
                <a:cs typeface="Muli Bold"/>
                <a:sym typeface="Muli Bold"/>
              </a:rPr>
              <a:t>   Các thành phần được tích hợp:</a:t>
            </a:r>
          </a:p>
          <a:p>
            <a:pPr marL="820421" lvl="1" indent="-410210" algn="l">
              <a:lnSpc>
                <a:spcPts val="5320"/>
              </a:lnSpc>
              <a:buAutoNum type="arabicPeriod"/>
            </a:pPr>
            <a:r>
              <a:rPr lang="en-US" sz="3800">
                <a:solidFill>
                  <a:srgbClr val="000000"/>
                </a:solidFill>
                <a:latin typeface="Muli"/>
                <a:ea typeface="Muli"/>
                <a:cs typeface="Muli"/>
                <a:sym typeface="Muli"/>
              </a:rPr>
              <a:t>Cloudflare: </a:t>
            </a:r>
          </a:p>
          <a:p>
            <a:pPr marL="820421" lvl="1" indent="-410210" algn="l">
              <a:lnSpc>
                <a:spcPts val="5320"/>
              </a:lnSpc>
              <a:buFont typeface="Arial"/>
              <a:buChar char="•"/>
            </a:pPr>
            <a:r>
              <a:rPr lang="en-US" sz="3800">
                <a:solidFill>
                  <a:srgbClr val="000000"/>
                </a:solidFill>
                <a:latin typeface="Muli"/>
                <a:ea typeface="Muli"/>
                <a:cs typeface="Muli"/>
                <a:sym typeface="Muli"/>
              </a:rPr>
              <a:t>Kết nối qua DNS, bật chế độ Proxy ( orange cloud ): CDN toàn cầu, tự động cache static files, chặn DDoS + bot</a:t>
            </a:r>
          </a:p>
          <a:p>
            <a:pPr marL="820421" lvl="1" indent="-410210" algn="l">
              <a:lnSpc>
                <a:spcPts val="5320"/>
              </a:lnSpc>
              <a:buAutoNum type="arabicPeriod"/>
            </a:pPr>
            <a:r>
              <a:rPr lang="en-US" sz="3800">
                <a:solidFill>
                  <a:srgbClr val="000000"/>
                </a:solidFill>
                <a:latin typeface="Muli"/>
                <a:ea typeface="Muli"/>
                <a:cs typeface="Muli"/>
                <a:sym typeface="Muli"/>
              </a:rPr>
              <a:t>Cron job:</a:t>
            </a:r>
          </a:p>
          <a:p>
            <a:pPr marL="820421" lvl="1" indent="-410210" algn="l">
              <a:lnSpc>
                <a:spcPts val="5320"/>
              </a:lnSpc>
              <a:buFont typeface="Arial"/>
              <a:buChar char="•"/>
            </a:pPr>
            <a:r>
              <a:rPr lang="en-US" sz="3800">
                <a:solidFill>
                  <a:srgbClr val="000000"/>
                </a:solidFill>
                <a:latin typeface="Muli"/>
                <a:ea typeface="Muli"/>
                <a:cs typeface="Muli"/>
                <a:sym typeface="Muli"/>
              </a:rPr>
              <a:t>Chạy mỗi phút thông qua container cron riêng đã được lên thời gian sẵn, liên tục cập nhập và đồng bộ CSDL.</a:t>
            </a:r>
          </a:p>
          <a:p>
            <a:pPr marL="820421" lvl="1" indent="-410210" algn="l">
              <a:lnSpc>
                <a:spcPts val="5320"/>
              </a:lnSpc>
              <a:buAutoNum type="arabicPeriod"/>
            </a:pPr>
            <a:r>
              <a:rPr lang="en-US" sz="3800">
                <a:solidFill>
                  <a:srgbClr val="000000"/>
                </a:solidFill>
                <a:latin typeface="Muli"/>
                <a:ea typeface="Muli"/>
                <a:cs typeface="Muli"/>
                <a:sym typeface="Muli"/>
              </a:rPr>
              <a:t>Chatbot:</a:t>
            </a:r>
          </a:p>
          <a:p>
            <a:pPr marL="820421" lvl="1" indent="-410210" algn="l">
              <a:lnSpc>
                <a:spcPts val="5320"/>
              </a:lnSpc>
              <a:buFont typeface="Arial"/>
              <a:buChar char="•"/>
            </a:pPr>
            <a:r>
              <a:rPr lang="en-US" sz="3800">
                <a:solidFill>
                  <a:srgbClr val="000000"/>
                </a:solidFill>
                <a:latin typeface="Muli"/>
                <a:ea typeface="Muli"/>
                <a:cs typeface="Muli"/>
                <a:sym typeface="Muli"/>
              </a:rPr>
              <a:t>Vẫn đang được phát triển và dự kiến thử nghiệm trong tương lai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93371" y="3216588"/>
            <a:ext cx="11301259" cy="5170326"/>
          </a:xfrm>
          <a:custGeom>
            <a:avLst/>
            <a:gdLst/>
            <a:ahLst/>
            <a:cxnLst/>
            <a:rect l="l" t="t" r="r" b="b"/>
            <a:pathLst>
              <a:path w="11301259" h="5170326">
                <a:moveTo>
                  <a:pt x="0" y="0"/>
                </a:moveTo>
                <a:lnTo>
                  <a:pt x="11301258" y="0"/>
                </a:lnTo>
                <a:lnTo>
                  <a:pt x="11301258" y="5170326"/>
                </a:lnTo>
                <a:lnTo>
                  <a:pt x="0" y="5170326"/>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8045827" y="8666003"/>
            <a:ext cx="2196346"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chủ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62754" y="2759812"/>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6844159" y="8666003"/>
            <a:ext cx="4599682"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Giao diện đăng nhập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508679" y="2988147"/>
            <a:ext cx="11301259" cy="5198579"/>
          </a:xfrm>
          <a:custGeom>
            <a:avLst/>
            <a:gdLst/>
            <a:ahLst/>
            <a:cxnLst/>
            <a:rect l="l" t="t" r="r" b="b"/>
            <a:pathLst>
              <a:path w="11301259" h="5198579">
                <a:moveTo>
                  <a:pt x="0" y="0"/>
                </a:moveTo>
                <a:lnTo>
                  <a:pt x="11301259" y="0"/>
                </a:lnTo>
                <a:lnTo>
                  <a:pt x="11301259" y="5198579"/>
                </a:lnTo>
                <a:lnTo>
                  <a:pt x="0" y="5198579"/>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7517793" y="8349930"/>
            <a:ext cx="3283030"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giỏ hàng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1340259" y="2924984"/>
            <a:ext cx="8397720" cy="4366814"/>
          </a:xfrm>
          <a:custGeom>
            <a:avLst/>
            <a:gdLst/>
            <a:ahLst/>
            <a:cxnLst/>
            <a:rect l="l" t="t" r="r" b="b"/>
            <a:pathLst>
              <a:path w="8397720" h="4366814">
                <a:moveTo>
                  <a:pt x="0" y="0"/>
                </a:moveTo>
                <a:lnTo>
                  <a:pt x="8397720" y="0"/>
                </a:lnTo>
                <a:lnTo>
                  <a:pt x="8397720" y="4366815"/>
                </a:lnTo>
                <a:lnTo>
                  <a:pt x="0" y="4366815"/>
                </a:lnTo>
                <a:lnTo>
                  <a:pt x="0" y="0"/>
                </a:lnTo>
                <a:close/>
              </a:path>
            </a:pathLst>
          </a:custGeom>
          <a:blipFill>
            <a:blip r:embed="rId3"/>
            <a:stretch>
              <a:fillRect/>
            </a:stretch>
          </a:blipFill>
        </p:spPr>
        <p:txBody>
          <a:bodyPr/>
          <a:lstStyle/>
          <a:p>
            <a:endParaRPr lang="vi-VN"/>
          </a:p>
        </p:txBody>
      </p:sp>
      <p:sp>
        <p:nvSpPr>
          <p:cNvPr id="5" name="Freeform 5"/>
          <p:cNvSpPr/>
          <p:nvPr/>
        </p:nvSpPr>
        <p:spPr>
          <a:xfrm>
            <a:off x="8830714" y="4283595"/>
            <a:ext cx="8122367" cy="4284549"/>
          </a:xfrm>
          <a:custGeom>
            <a:avLst/>
            <a:gdLst/>
            <a:ahLst/>
            <a:cxnLst/>
            <a:rect l="l" t="t" r="r" b="b"/>
            <a:pathLst>
              <a:path w="8122367" h="4284549">
                <a:moveTo>
                  <a:pt x="0" y="0"/>
                </a:moveTo>
                <a:lnTo>
                  <a:pt x="8122367" y="0"/>
                </a:lnTo>
                <a:lnTo>
                  <a:pt x="8122367" y="4284549"/>
                </a:lnTo>
                <a:lnTo>
                  <a:pt x="0" y="4284549"/>
                </a:lnTo>
                <a:lnTo>
                  <a:pt x="0" y="0"/>
                </a:lnTo>
                <a:close/>
              </a:path>
            </a:pathLst>
          </a:custGeom>
          <a:blipFill>
            <a:blip r:embed="rId4"/>
            <a:stretch>
              <a:fillRect/>
            </a:stretch>
          </a:blipFill>
        </p:spPr>
        <p:txBody>
          <a:bodyPr/>
          <a:lstStyle/>
          <a:p>
            <a:endParaRPr lang="vi-VN"/>
          </a:p>
        </p:txBody>
      </p:sp>
      <p:sp>
        <p:nvSpPr>
          <p:cNvPr id="6" name="TextBox 6"/>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7" name="TextBox 7"/>
          <p:cNvSpPr txBox="1"/>
          <p:nvPr/>
        </p:nvSpPr>
        <p:spPr>
          <a:xfrm>
            <a:off x="7350978" y="8666003"/>
            <a:ext cx="3586044"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sản phẩm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47446" y="2821044"/>
            <a:ext cx="11095035" cy="5852631"/>
          </a:xfrm>
          <a:custGeom>
            <a:avLst/>
            <a:gdLst/>
            <a:ahLst/>
            <a:cxnLst/>
            <a:rect l="l" t="t" r="r" b="b"/>
            <a:pathLst>
              <a:path w="11095035" h="5852631">
                <a:moveTo>
                  <a:pt x="0" y="0"/>
                </a:moveTo>
                <a:lnTo>
                  <a:pt x="11095035" y="0"/>
                </a:lnTo>
                <a:lnTo>
                  <a:pt x="11095035" y="5852631"/>
                </a:lnTo>
                <a:lnTo>
                  <a:pt x="0" y="5852631"/>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7502351" y="8666003"/>
            <a:ext cx="3283297"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giỏ hàng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386213" y="2713887"/>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7502351" y="8666003"/>
            <a:ext cx="3283297"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giỏ hàng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62754" y="2683271"/>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7472586" y="8666003"/>
            <a:ext cx="3342829"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đặt hàng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32138" y="2683271"/>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5641777" y="8666003"/>
            <a:ext cx="7004447"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thanh toán được tích hợp</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432138" y="2667963"/>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6955780" y="8666003"/>
            <a:ext cx="4376440"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quản lý chính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233132" y="2729195"/>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6550670" y="8666003"/>
            <a:ext cx="5186660"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quản lý tài khoản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Freeform 4"/>
          <p:cNvSpPr/>
          <p:nvPr/>
        </p:nvSpPr>
        <p:spPr>
          <a:xfrm>
            <a:off x="3340289" y="2821044"/>
            <a:ext cx="11301259" cy="5961414"/>
          </a:xfrm>
          <a:custGeom>
            <a:avLst/>
            <a:gdLst/>
            <a:ahLst/>
            <a:cxnLst/>
            <a:rect l="l" t="t" r="r" b="b"/>
            <a:pathLst>
              <a:path w="11301259" h="5961414">
                <a:moveTo>
                  <a:pt x="0" y="0"/>
                </a:moveTo>
                <a:lnTo>
                  <a:pt x="11301259" y="0"/>
                </a:lnTo>
                <a:lnTo>
                  <a:pt x="11301259" y="5961414"/>
                </a:lnTo>
                <a:lnTo>
                  <a:pt x="0" y="5961414"/>
                </a:lnTo>
                <a:lnTo>
                  <a:pt x="0" y="0"/>
                </a:lnTo>
                <a:close/>
              </a:path>
            </a:pathLst>
          </a:custGeom>
          <a:blipFill>
            <a:blip r:embed="rId3"/>
            <a:stretch>
              <a:fillRect/>
            </a:stretch>
          </a:blipFill>
        </p:spPr>
        <p:txBody>
          <a:bodyPr/>
          <a:lstStyle/>
          <a:p>
            <a:endParaRPr lang="vi-VN"/>
          </a:p>
        </p:txBody>
      </p:sp>
      <p:sp>
        <p:nvSpPr>
          <p:cNvPr id="5" name="TextBox 5"/>
          <p:cNvSpPr txBox="1"/>
          <p:nvPr/>
        </p:nvSpPr>
        <p:spPr>
          <a:xfrm>
            <a:off x="639371" y="1457298"/>
            <a:ext cx="7755107" cy="821396"/>
          </a:xfrm>
          <a:prstGeom prst="rect">
            <a:avLst/>
          </a:prstGeom>
        </p:spPr>
        <p:txBody>
          <a:bodyPr lIns="0" tIns="0" rIns="0" bIns="0" rtlCol="0" anchor="t">
            <a:spAutoFit/>
          </a:bodyPr>
          <a:lstStyle/>
          <a:p>
            <a:pPr algn="ctr">
              <a:lnSpc>
                <a:spcPts val="6701"/>
              </a:lnSpc>
            </a:pPr>
            <a:r>
              <a:rPr lang="en-US" sz="4786" b="1">
                <a:solidFill>
                  <a:srgbClr val="000000"/>
                </a:solidFill>
                <a:latin typeface="Muli Bold"/>
                <a:ea typeface="Muli Bold"/>
                <a:cs typeface="Muli Bold"/>
                <a:sym typeface="Muli Bold"/>
              </a:rPr>
              <a:t>3. Xây dựng chương trình </a:t>
            </a:r>
          </a:p>
        </p:txBody>
      </p:sp>
      <p:sp>
        <p:nvSpPr>
          <p:cNvPr id="6" name="TextBox 6"/>
          <p:cNvSpPr txBox="1"/>
          <p:nvPr/>
        </p:nvSpPr>
        <p:spPr>
          <a:xfrm>
            <a:off x="6470675" y="8666003"/>
            <a:ext cx="5346650" cy="908370"/>
          </a:xfrm>
          <a:prstGeom prst="rect">
            <a:avLst/>
          </a:prstGeom>
        </p:spPr>
        <p:txBody>
          <a:bodyPr lIns="0" tIns="0" rIns="0" bIns="0" rtlCol="0" anchor="t">
            <a:spAutoFit/>
          </a:bodyPr>
          <a:lstStyle/>
          <a:p>
            <a:pPr algn="ctr">
              <a:lnSpc>
                <a:spcPts val="7996"/>
              </a:lnSpc>
              <a:spcBef>
                <a:spcPct val="0"/>
              </a:spcBef>
            </a:pPr>
            <a:r>
              <a:rPr lang="en-US" sz="4186">
                <a:solidFill>
                  <a:srgbClr val="000000"/>
                </a:solidFill>
                <a:latin typeface="Cabin"/>
                <a:ea typeface="Cabin"/>
                <a:cs typeface="Cabin"/>
                <a:sym typeface="Cabin"/>
              </a:rPr>
              <a:t>Trang quản lý sản phẩm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TextBox 4"/>
          <p:cNvSpPr txBox="1"/>
          <p:nvPr/>
        </p:nvSpPr>
        <p:spPr>
          <a:xfrm>
            <a:off x="7115044" y="4580180"/>
            <a:ext cx="4057912" cy="1352259"/>
          </a:xfrm>
          <a:prstGeom prst="rect">
            <a:avLst/>
          </a:prstGeom>
        </p:spPr>
        <p:txBody>
          <a:bodyPr lIns="0" tIns="0" rIns="0" bIns="0" rtlCol="0" anchor="t">
            <a:spAutoFit/>
          </a:bodyPr>
          <a:lstStyle/>
          <a:p>
            <a:pPr algn="ctr">
              <a:lnSpc>
                <a:spcPts val="11041"/>
              </a:lnSpc>
            </a:pPr>
            <a:r>
              <a:rPr lang="en-US" sz="7886" b="1">
                <a:solidFill>
                  <a:srgbClr val="000000"/>
                </a:solidFill>
                <a:latin typeface="Muli Bold"/>
                <a:ea typeface="Muli Bold"/>
                <a:cs typeface="Muli Bold"/>
                <a:sym typeface="Muli Bold"/>
              </a:rPr>
              <a:t>4. Demo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noChangeAspect="1"/>
          </p:cNvGrpSpPr>
          <p:nvPr/>
        </p:nvGrpSpPr>
        <p:grpSpPr>
          <a:xfrm>
            <a:off x="0" y="0"/>
            <a:ext cx="18288000" cy="10287000"/>
            <a:chOff x="0" y="0"/>
            <a:chExt cx="24384000" cy="13716000"/>
          </a:xfrm>
        </p:grpSpPr>
        <p:sp>
          <p:nvSpPr>
            <p:cNvPr id="3" name="Freeform 3" descr="A white background with a building in the background  Description automatically generated"/>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vi-VN"/>
            </a:p>
          </p:txBody>
        </p:sp>
      </p:grpSp>
      <p:sp>
        <p:nvSpPr>
          <p:cNvPr id="4" name="TextBox 4"/>
          <p:cNvSpPr txBox="1"/>
          <p:nvPr/>
        </p:nvSpPr>
        <p:spPr>
          <a:xfrm>
            <a:off x="2517814" y="4685177"/>
            <a:ext cx="13252371" cy="821396"/>
          </a:xfrm>
          <a:prstGeom prst="rect">
            <a:avLst/>
          </a:prstGeom>
        </p:spPr>
        <p:txBody>
          <a:bodyPr lIns="0" tIns="0" rIns="0" bIns="0" rtlCol="0" anchor="t">
            <a:spAutoFit/>
          </a:bodyPr>
          <a:lstStyle/>
          <a:p>
            <a:pPr algn="ctr">
              <a:lnSpc>
                <a:spcPts val="6701"/>
              </a:lnSpc>
              <a:spcBef>
                <a:spcPct val="0"/>
              </a:spcBef>
            </a:pPr>
            <a:r>
              <a:rPr lang="en-US" sz="4786" b="1">
                <a:solidFill>
                  <a:srgbClr val="000000"/>
                </a:solidFill>
                <a:latin typeface="Muli Bold"/>
                <a:ea typeface="Muli Bold"/>
                <a:cs typeface="Muli Bold"/>
                <a:sym typeface="Muli Bold"/>
              </a:rPr>
              <a:t>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963</Words>
  <Application>Microsoft Office PowerPoint</Application>
  <PresentationFormat>Tùy chỉnh</PresentationFormat>
  <Paragraphs>89</Paragraphs>
  <Slides>26</Slides>
  <Notes>0</Notes>
  <HiddenSlides>0</HiddenSlides>
  <MMClips>0</MMClips>
  <ScaleCrop>false</ScaleCrop>
  <HeadingPairs>
    <vt:vector size="6" baseType="variant">
      <vt:variant>
        <vt:lpstr>Phông được Dùng</vt:lpstr>
      </vt:variant>
      <vt:variant>
        <vt:i4>7</vt:i4>
      </vt:variant>
      <vt:variant>
        <vt:lpstr>Chủ đề</vt:lpstr>
      </vt:variant>
      <vt:variant>
        <vt:i4>1</vt:i4>
      </vt:variant>
      <vt:variant>
        <vt:lpstr>Tiêu đề Bản chiếu</vt:lpstr>
      </vt:variant>
      <vt:variant>
        <vt:i4>26</vt:i4>
      </vt:variant>
    </vt:vector>
  </HeadingPairs>
  <TitlesOfParts>
    <vt:vector size="34" baseType="lpstr">
      <vt:lpstr>Cabin Bold</vt:lpstr>
      <vt:lpstr>Calibri</vt:lpstr>
      <vt:lpstr>Cabin</vt:lpstr>
      <vt:lpstr>Muli</vt:lpstr>
      <vt:lpstr>Muli Regular Bold</vt:lpstr>
      <vt:lpstr>Arial</vt:lpstr>
      <vt:lpstr>Muli Bold</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ĐTĐM</dc:title>
  <dc:creator>dell</dc:creator>
  <cp:lastModifiedBy>Vo Thien  Son</cp:lastModifiedBy>
  <cp:revision>1</cp:revision>
  <dcterms:created xsi:type="dcterms:W3CDTF">2006-08-16T00:00:00Z</dcterms:created>
  <dcterms:modified xsi:type="dcterms:W3CDTF">2026-05-02T14:52:27Z</dcterms:modified>
  <dc:identifier>DAG2_vWCy40</dc:identifier>
</cp:coreProperties>
</file>